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2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  <Override PartName="/docProps/custom.xml" ContentType="application/vnd.openxmlformats-officedocument.custom-properties+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Relationship Id="rId3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 mar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 marL="457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 marL="914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 marL="1371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 marL="18288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 marL="22860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 marL="2743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 marL="3200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 marL="3657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slides/slide9.xml" Type="http://schemas.openxmlformats.org/officeDocument/2006/relationships/slide"/><Relationship Id="rId18" Target="slides/slide10.xml" Type="http://schemas.openxmlformats.org/officeDocument/2006/relationships/slide"/><Relationship Id="rId19" Target="slides/slide11.xml" Type="http://schemas.openxmlformats.org/officeDocument/2006/relationships/slide"/><Relationship Id="rId2" Target="viewProps.xml" Type="http://schemas.openxmlformats.org/officeDocument/2006/relationships/viewProps"/><Relationship Id="rId20" Target="slides/slide12.xml" Type="http://schemas.openxmlformats.org/officeDocument/2006/relationships/slide"/><Relationship Id="rId21" Target="slides/slide13.xml" Type="http://schemas.openxmlformats.org/officeDocument/2006/relationships/slide"/><Relationship Id="rId22" Target="slides/slide14.xml" Type="http://schemas.openxmlformats.org/officeDocument/2006/relationships/slide"/><Relationship Id="rId23" Target="slides/slide15.xml" Type="http://schemas.openxmlformats.org/officeDocument/2006/relationships/slide"/><Relationship Id="rId24" Target="slides/slide16.xml" Type="http://schemas.openxmlformats.org/officeDocument/2006/relationships/slide"/><Relationship Id="rId25" Target="slides/slide17.xml" Type="http://schemas.openxmlformats.org/officeDocument/2006/relationships/slide"/><Relationship Id="rId26" Target="slides/slide18.xml" Type="http://schemas.openxmlformats.org/officeDocument/2006/relationships/slide"/><Relationship Id="rId27" Target="slides/slide19.xml" Type="http://schemas.openxmlformats.org/officeDocument/2006/relationships/slide"/><Relationship Id="rId28" Target="slides/slide20.xml" Type="http://schemas.openxmlformats.org/officeDocument/2006/relationships/slide"/><Relationship Id="rId29" Target="slides/slide21.xml" Type="http://schemas.openxmlformats.org/officeDocument/2006/relationships/slide"/><Relationship Id="rId3" Target="presProps.xml" Type="http://schemas.openxmlformats.org/officeDocument/2006/relationships/presProps"/><Relationship Id="rId30" Target="notesSlides/notesSlide1.xml" Type="http://schemas.openxmlformats.org/officeDocument/2006/relationships/notesSlide"/><Relationship Id="rId31" Target="notesSlides/notesSlide2.xml" Type="http://schemas.openxmlformats.org/officeDocument/2006/relationships/notesSlide"/><Relationship Id="rId32" Target="notesSlides/notesSlide3.xml" Type="http://schemas.openxmlformats.org/officeDocument/2006/relationships/notesSlide"/><Relationship Id="rId33" Target="notesSlides/notesSlide4.xml" Type="http://schemas.openxmlformats.org/officeDocument/2006/relationships/notesSlide"/><Relationship Id="rId34" Target="notesSlides/notesSlide5.xml" Type="http://schemas.openxmlformats.org/officeDocument/2006/relationships/notesSlide"/><Relationship Id="rId35" Target="notesSlides/notesSlide6.xml" Type="http://schemas.openxmlformats.org/officeDocument/2006/relationships/notesSlide"/><Relationship Id="rId36" Target="notesSlides/notesSlide7.xml" Type="http://schemas.openxmlformats.org/officeDocument/2006/relationships/notesSlide"/><Relationship Id="rId37" Target="notesSlides/notesSlide8.xml" Type="http://schemas.openxmlformats.org/officeDocument/2006/relationships/notesSlide"/><Relationship Id="rId38" Target="notesSlides/notesSlide9.xml" Type="http://schemas.openxmlformats.org/officeDocument/2006/relationships/notesSlide"/><Relationship Id="rId39" Target="notesSlides/notesSlide10.xml" Type="http://schemas.openxmlformats.org/officeDocument/2006/relationships/notesSlide"/><Relationship Id="rId4" Target="slideMasters/slideMaster1.xml" Type="http://schemas.openxmlformats.org/officeDocument/2006/relationships/slideMaster"/><Relationship Id="rId40" Target="notesSlides/notesSlide11.xml" Type="http://schemas.openxmlformats.org/officeDocument/2006/relationships/notesSlide"/><Relationship Id="rId41" Target="notesSlides/notesSlide12.xml" Type="http://schemas.openxmlformats.org/officeDocument/2006/relationships/notesSlide"/><Relationship Id="rId42" Target="notesSlides/notesSlide13.xml" Type="http://schemas.openxmlformats.org/officeDocument/2006/relationships/notesSlide"/><Relationship Id="rId43" Target="notesSlides/notesSlide14.xml" Type="http://schemas.openxmlformats.org/officeDocument/2006/relationships/notesSlide"/><Relationship Id="rId44" Target="notesSlides/notesSlide15.xml" Type="http://schemas.openxmlformats.org/officeDocument/2006/relationships/notesSlide"/><Relationship Id="rId45" Target="notesSlides/notesSlide16.xml" Type="http://schemas.openxmlformats.org/officeDocument/2006/relationships/notesSlide"/><Relationship Id="rId46" Target="notesSlides/notesSlide17.xml" Type="http://schemas.openxmlformats.org/officeDocument/2006/relationships/notesSlide"/><Relationship Id="rId47" Target="notesSlides/notesSlide18.xml" Type="http://schemas.openxmlformats.org/officeDocument/2006/relationships/notesSlide"/><Relationship Id="rId48" Target="notesSlides/notesSlide19.xml" Type="http://schemas.openxmlformats.org/officeDocument/2006/relationships/notesSlide"/><Relationship Id="rId49" Target="notesSlides/notesSlide20.xml" Type="http://schemas.openxmlformats.org/officeDocument/2006/relationships/notesSlide"/><Relationship Id="rId50" Target="notesSlides/notesSlide21.xml" Type="http://schemas.openxmlformats.org/officeDocument/2006/relationships/notesSlide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1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2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_rels/notesSlide2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1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大家好，欢迎参加本次汇报。今天我们将向大家介绍“石材幕墙污渍检测系统”项目。本次汇报将围绕项目管理和经济分析两个核心维度展开，分享我们从零到一构建这套自动化检测解决方案的全过程。希望通过这次汇报，能让大家对我们的项目有一个全面而深入的了解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本次汇报将分为五个部分。首先，我们会介绍项目的背景与目标，阐述我们为何要做这件事。接着，将详细介绍系统的功能和技术实现。第三部分，我们会复盘项目管理的全过程。第四部分，也是本次汇报的重点，是对项目进行深入的经济分析。最后，我们会对项目进行总结并展望未来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首先，让我们进入第一部分：项目背景与目标。在这一章，我们将探讨当前石材幕墙维护领域面临的挑战，以及我们项目希望解决的核心问题。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目前，石材幕墙的维护主要依赖传统的人工巡检。这种方式存在三大痛点：首先，污渍会影响建筑美观和寿命；其次，人工巡检效率低下，无法满足大规模检测需求；最后，高空作业成本高、风险大。这些痛点正是我们项目所要解决的问题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基于以上痛点，我们定位本项目为“智慧幕墙大系统”下的一个关键子系统。我们的目标是全新开发一套自动化检测方案，通过计算机视觉技术实现快速、精准的污渍检测，并将训练好的模型作为核心资产，为未来的系统扩展打下基础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接下来，我们将进入第二部分，详细介绍我们开发的系统，包括它的架构、核心技术和主要功能。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我们的系统采用了现代化的前后端分离架构。前端基于Vue3，后端基于FastAPI，核心是YOLO模型。数据存储结合了MySQL和阿里云OSS。整个系统通过Docker进行容器化部署，确保了开发、测试和生产环境的一致性。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系统的核心技术是YOLO深度学习算法。其工作流程非常清晰：用户上传图片后，系统自动进行预处理，然后调用AI模型进行检测，分析污渍占比，并最终将可视化结果和报告返回给用户。整个过程高效、自动化。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经过12周的开发，我们成功交付了一系列成果，包括完整的项目文档、可运行的前后端服务、训练好的AI模型以及Docker部署包。这些交付物共同构成了我们项目的完整产出。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现在我们进入第三部分，回顾项目的管理过程。这部分将展示我们如何规划、执行和监控整个项目，确保其按时、高质量地完成。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在项目规划阶段，我们使用工作分解结构（WBS）将项目拆分为7个主要阶段，并制定了详细的12周时间表。通过甘特图，我们清晰地规划了每个任务的起止时间和依赖关系，为项目的顺利进行奠定了基础。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在项目执行过程中，我们通过每周例会和里程碑验收来监控进度。同时，我们设定了明确的质量指标，如检测准确率和响应时间，均已达标。此外，我们还成功管理了3项重要变更，确保了项目目标的现实性和可达成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风险管理是项目成功的关键。我们以“模型精度不足”这一核心风险为例，最初模型精度只有62%。通过扩充数据集、调整超参数和优化数据增强策略，我们成功将精度提升到了74%，解决了这个关键问题。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接下来是本次汇报的重点——第四部分，经济分析与商业价值。我们将从成本、定价、财务预测等角度，分析这个项目的商业潜力。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我们采用功能点分析法估算软件规模为21个功能点。在此基础上，结合国家标准和行业基准数据，我们估算出项目的开发成本约为2.5万元。我们采用了两种方法交叉验证，确保了估算结果的可靠性。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针对不同客户，我们设计了三种定价策略：一次性买断、SaaS订阅和基于价值的定价。其中，SaaS订阅模式提供了灵活的选择，从基础版到企业版，满足不同规模客户的需求。基于价值的定价分析也验证了我们专业版定价的合理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我们对项目进行了5年的财务预测。结果显示，项目的投资回收期约为18个月，内部收益率高达65%，5年投资回报率接近18倍。这些数据表明，本项目具有极高的投资价值和商业可行性。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最后，我们进入第五部分，对项目进行总结，并对未来的发展方向进行展望。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总结来说，本项目在技术上是可行的，经济上是合理的，并且具备良好的社会价值。我们也从项目中总结了宝贵的经验，例如双方法验证的重要性，以及在需求和测试阶段需要改进的地方。这些都将为我们未来的项目提供借鉴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展望未来，我们规划了清晰的商业化路径和技术迭代方向。短期内，我们将通过SaaS模式获取早期用户；中期计划参加创业大赛，寻求融资；长期目标是成为智慧建筑领域的AI视觉检测平台。技术上，我们将持续优化模型，并扩展更多实用功能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我的汇报到此结束，感谢各位的聆听。现在是问答环节，欢迎大家提问。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3.jpeg" Type="http://schemas.openxmlformats.org/officeDocument/2006/relationships/image"/><Relationship Id="rId3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4.jpeg" Type="http://schemas.openxmlformats.org/officeDocument/2006/relationships/image"/><Relationship Id="rId3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12.jpeg" Type="http://schemas.openxmlformats.org/officeDocument/2006/relationships/image"/><Relationship Id="rId11" Target="../notesSlides/notesSlide4.xml" Type="http://schemas.openxmlformats.org/officeDocument/2006/relationships/notesSlide"/><Relationship Id="rId2" Target="../media/image3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9.png" Type="http://schemas.openxmlformats.org/officeDocument/2006/relationships/image"/><Relationship Id="rId8" Target="../media/image10.svg" Type="http://schemas.openxmlformats.org/officeDocument/2006/relationships/image"/><Relationship Id="rId9" Target="../media/image1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3.jpe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15.png" Type="http://schemas.openxmlformats.org/officeDocument/2006/relationships/image"/><Relationship Id="rId6" Target="../media/image16.svg" Type="http://schemas.openxmlformats.org/officeDocument/2006/relationships/image"/><Relationship Id="rId7" Target="../media/image17.png" Type="http://schemas.openxmlformats.org/officeDocument/2006/relationships/image"/><Relationship Id="rId8" Target="../media/image18.svg" Type="http://schemas.openxmlformats.org/officeDocument/2006/relationships/image"/><Relationship Id="rId9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4.jpeg" Type="http://schemas.openxmlformats.org/officeDocument/2006/relationships/image"/><Relationship Id="rId3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26.svg" Type="http://schemas.openxmlformats.org/officeDocument/2006/relationships/image"/><Relationship Id="rId11" Target="../media/image27.png" Type="http://schemas.openxmlformats.org/officeDocument/2006/relationships/image"/><Relationship Id="rId12" Target="../media/image28.svg" Type="http://schemas.openxmlformats.org/officeDocument/2006/relationships/image"/><Relationship Id="rId13" Target="../media/image29.jpeg" Type="http://schemas.openxmlformats.org/officeDocument/2006/relationships/image"/><Relationship Id="rId14" Target="../media/image30.jpeg" Type="http://schemas.openxmlformats.org/officeDocument/2006/relationships/image"/><Relationship Id="rId15" Target="../media/image31.jpeg" Type="http://schemas.openxmlformats.org/officeDocument/2006/relationships/image"/><Relationship Id="rId16" Target="../media/image32.jpeg" Type="http://schemas.openxmlformats.org/officeDocument/2006/relationships/image"/><Relationship Id="rId17" Target="../notesSlides/notesSlide7.xml" Type="http://schemas.openxmlformats.org/officeDocument/2006/relationships/notesSlide"/><Relationship Id="rId2" Target="../media/image3.jpeg" Type="http://schemas.openxmlformats.org/officeDocument/2006/relationships/image"/><Relationship Id="rId3" Target="../media/image19.png" Type="http://schemas.openxmlformats.org/officeDocument/2006/relationships/image"/><Relationship Id="rId4" Target="../media/image20.svg" Type="http://schemas.openxmlformats.org/officeDocument/2006/relationships/image"/><Relationship Id="rId5" Target="../media/image21.png" Type="http://schemas.openxmlformats.org/officeDocument/2006/relationships/image"/><Relationship Id="rId6" Target="../media/image22.svg" Type="http://schemas.openxmlformats.org/officeDocument/2006/relationships/image"/><Relationship Id="rId7" Target="../media/image23.png" Type="http://schemas.openxmlformats.org/officeDocument/2006/relationships/image"/><Relationship Id="rId8" Target="../media/image24.svg" Type="http://schemas.openxmlformats.org/officeDocument/2006/relationships/image"/><Relationship Id="rId9" Target="../media/image2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14.svg" Type="http://schemas.openxmlformats.org/officeDocument/2006/relationships/image"/><Relationship Id="rId11" Target="../media/image37.png" Type="http://schemas.openxmlformats.org/officeDocument/2006/relationships/image"/><Relationship Id="rId12" Target="../media/image38.svg" Type="http://schemas.openxmlformats.org/officeDocument/2006/relationships/image"/><Relationship Id="rId13" Target="../media/image39.png" Type="http://schemas.openxmlformats.org/officeDocument/2006/relationships/image"/><Relationship Id="rId14" Target="../media/image40.svg" Type="http://schemas.openxmlformats.org/officeDocument/2006/relationships/image"/><Relationship Id="rId15" Target="../notesSlides/notesSlide8.xml" Type="http://schemas.openxmlformats.org/officeDocument/2006/relationships/notesSlide"/><Relationship Id="rId2" Target="../media/image3.jpeg" Type="http://schemas.openxmlformats.org/officeDocument/2006/relationships/image"/><Relationship Id="rId3" Target="../media/image15.png" Type="http://schemas.openxmlformats.org/officeDocument/2006/relationships/image"/><Relationship Id="rId4" Target="../media/image16.svg" Type="http://schemas.openxmlformats.org/officeDocument/2006/relationships/image"/><Relationship Id="rId5" Target="../media/image33.png" Type="http://schemas.openxmlformats.org/officeDocument/2006/relationships/image"/><Relationship Id="rId6" Target="../media/image34.svg" Type="http://schemas.openxmlformats.org/officeDocument/2006/relationships/image"/><Relationship Id="rId7" Target="../media/image35.png" Type="http://schemas.openxmlformats.org/officeDocument/2006/relationships/image"/><Relationship Id="rId8" Target="../media/image36.svg" Type="http://schemas.openxmlformats.org/officeDocument/2006/relationships/image"/><Relationship Id="rId9" Target="../media/image1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46.svg" Type="http://schemas.openxmlformats.org/officeDocument/2006/relationships/image"/><Relationship Id="rId11" Target="../media/image37.png" Type="http://schemas.openxmlformats.org/officeDocument/2006/relationships/image"/><Relationship Id="rId12" Target="../media/image38.svg" Type="http://schemas.openxmlformats.org/officeDocument/2006/relationships/image"/><Relationship Id="rId13" Target="../media/image21.png" Type="http://schemas.openxmlformats.org/officeDocument/2006/relationships/image"/><Relationship Id="rId14" Target="../media/image22.svg" Type="http://schemas.openxmlformats.org/officeDocument/2006/relationships/image"/><Relationship Id="rId15" Target="../media/image13.png" Type="http://schemas.openxmlformats.org/officeDocument/2006/relationships/image"/><Relationship Id="rId16" Target="../media/image14.svg" Type="http://schemas.openxmlformats.org/officeDocument/2006/relationships/image"/><Relationship Id="rId17" Target="../media/image47.png" Type="http://schemas.openxmlformats.org/officeDocument/2006/relationships/image"/><Relationship Id="rId18" Target="../media/image48.svg" Type="http://schemas.openxmlformats.org/officeDocument/2006/relationships/image"/><Relationship Id="rId19" Target="../media/image27.png" Type="http://schemas.openxmlformats.org/officeDocument/2006/relationships/image"/><Relationship Id="rId2" Target="../media/image3.jpeg" Type="http://schemas.openxmlformats.org/officeDocument/2006/relationships/image"/><Relationship Id="rId20" Target="../media/image28.svg" Type="http://schemas.openxmlformats.org/officeDocument/2006/relationships/image"/><Relationship Id="rId21" Target="../notesSlides/notesSlide9.xml" Type="http://schemas.openxmlformats.org/officeDocument/2006/relationships/notesSlide"/><Relationship Id="rId3" Target="../media/image39.png" Type="http://schemas.openxmlformats.org/officeDocument/2006/relationships/image"/><Relationship Id="rId4" Target="../media/image40.svg" Type="http://schemas.openxmlformats.org/officeDocument/2006/relationships/image"/><Relationship Id="rId5" Target="../media/image41.png" Type="http://schemas.openxmlformats.org/officeDocument/2006/relationships/image"/><Relationship Id="rId6" Target="../media/image42.svg" Type="http://schemas.openxmlformats.org/officeDocument/2006/relationships/image"/><Relationship Id="rId7" Target="../media/image43.png" Type="http://schemas.openxmlformats.org/officeDocument/2006/relationships/image"/><Relationship Id="rId8" Target="../media/image44.svg" Type="http://schemas.openxmlformats.org/officeDocument/2006/relationships/image"/><Relationship Id="rId9" Target="../media/image45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4.jpeg" Type="http://schemas.openxmlformats.org/officeDocument/2006/relationships/image"/><Relationship Id="rId3" Target="../notesSlides/notesSlide10.xml" Type="http://schemas.openxmlformats.org/officeDocument/2006/relationships/notesSlide"/></Relationships>
</file>

<file path=ppt/slides/_rels/slide1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3.jpeg" Type="http://schemas.openxmlformats.org/officeDocument/2006/relationships/image"/><Relationship Id="rId3" Target="../media/image49.png" Type="http://schemas.openxmlformats.org/officeDocument/2006/relationships/image"/><Relationship Id="rId4" Target="../media/image50.svg" Type="http://schemas.openxmlformats.org/officeDocument/2006/relationships/image"/><Relationship Id="rId5" Target="../media/image51.jpeg" Type="http://schemas.openxmlformats.org/officeDocument/2006/relationships/image"/><Relationship Id="rId6" Target="../notesSlides/notesSlide11.xml" Type="http://schemas.openxmlformats.org/officeDocument/2006/relationships/notesSlide"/></Relationships>
</file>

<file path=ppt/slides/_rels/slide1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3.jpeg" Type="http://schemas.openxmlformats.org/officeDocument/2006/relationships/image"/><Relationship Id="rId3" Target="../media/image52.png" Type="http://schemas.openxmlformats.org/officeDocument/2006/relationships/image"/><Relationship Id="rId4" Target="../media/image53.svg" Type="http://schemas.openxmlformats.org/officeDocument/2006/relationships/image"/><Relationship Id="rId5" Target="../media/image54.png" Type="http://schemas.openxmlformats.org/officeDocument/2006/relationships/image"/><Relationship Id="rId6" Target="../media/image55.svg" Type="http://schemas.openxmlformats.org/officeDocument/2006/relationships/image"/><Relationship Id="rId7" Target="../media/image56.png" Type="http://schemas.openxmlformats.org/officeDocument/2006/relationships/image"/><Relationship Id="rId8" Target="../media/image57.svg" Type="http://schemas.openxmlformats.org/officeDocument/2006/relationships/image"/><Relationship Id="rId9" Target="../notesSlides/notesSlide12.xml" Type="http://schemas.openxmlformats.org/officeDocument/2006/relationships/notesSlide"/></Relationships>
</file>

<file path=ppt/slides/_rels/slide1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3.jpeg" Type="http://schemas.openxmlformats.org/officeDocument/2006/relationships/image"/><Relationship Id="rId3" Target="../media/image58.png" Type="http://schemas.openxmlformats.org/officeDocument/2006/relationships/image"/><Relationship Id="rId4" Target="../media/image59.svg" Type="http://schemas.openxmlformats.org/officeDocument/2006/relationships/image"/><Relationship Id="rId5" Target="../media/image60.png" Type="http://schemas.openxmlformats.org/officeDocument/2006/relationships/image"/><Relationship Id="rId6" Target="../media/image61.svg" Type="http://schemas.openxmlformats.org/officeDocument/2006/relationships/image"/><Relationship Id="rId7" Target="../media/image62.png" Type="http://schemas.openxmlformats.org/officeDocument/2006/relationships/image"/><Relationship Id="rId8" Target="../media/image63.svg" Type="http://schemas.openxmlformats.org/officeDocument/2006/relationships/image"/><Relationship Id="rId9" Target="../notesSlides/notesSlide13.xml" Type="http://schemas.openxmlformats.org/officeDocument/2006/relationships/notesSlide"/></Relationships>
</file>

<file path=ppt/slides/_rels/slide1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4.jpeg" Type="http://schemas.openxmlformats.org/officeDocument/2006/relationships/image"/><Relationship Id="rId3" Target="../notesSlides/notesSlide14.xml" Type="http://schemas.openxmlformats.org/officeDocument/2006/relationships/notesSlide"/></Relationships>
</file>

<file path=ppt/slides/_rels/slide1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3.jpeg" Type="http://schemas.openxmlformats.org/officeDocument/2006/relationships/image"/><Relationship Id="rId3" Target="../media/image64.png" Type="http://schemas.openxmlformats.org/officeDocument/2006/relationships/image"/><Relationship Id="rId4" Target="../media/image65.svg" Type="http://schemas.openxmlformats.org/officeDocument/2006/relationships/image"/><Relationship Id="rId5" Target="../media/image66.png" Type="http://schemas.openxmlformats.org/officeDocument/2006/relationships/image"/><Relationship Id="rId6" Target="../media/image67.svg" Type="http://schemas.openxmlformats.org/officeDocument/2006/relationships/image"/><Relationship Id="rId7" Target="../media/image68.png" Type="http://schemas.openxmlformats.org/officeDocument/2006/relationships/image"/><Relationship Id="rId8" Target="../media/image69.svg" Type="http://schemas.openxmlformats.org/officeDocument/2006/relationships/image"/><Relationship Id="rId9" Target="../notesSlides/notesSlide15.xml" Type="http://schemas.openxmlformats.org/officeDocument/2006/relationships/notesSlide"/></Relationships>
</file>

<file path=ppt/slides/_rels/slide1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3.jpeg" Type="http://schemas.openxmlformats.org/officeDocument/2006/relationships/image"/><Relationship Id="rId3" Target="../media/image70.jpeg" Type="http://schemas.openxmlformats.org/officeDocument/2006/relationships/image"/><Relationship Id="rId4" Target="../notesSlides/notesSlide16.xml" Type="http://schemas.openxmlformats.org/officeDocument/2006/relationships/notesSlide"/></Relationships>
</file>

<file path=ppt/slides/_rels/slide1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3.jpeg" Type="http://schemas.openxmlformats.org/officeDocument/2006/relationships/image"/><Relationship Id="rId3" Target="../notesSlides/notesSlide17.xml" Type="http://schemas.openxmlformats.org/officeDocument/2006/relationships/notesSlide"/></Relationships>
</file>

<file path=ppt/slides/_rels/slide1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4.jpeg" Type="http://schemas.openxmlformats.org/officeDocument/2006/relationships/image"/><Relationship Id="rId3" Target="../notesSlides/notesSlide18.xml" Type="http://schemas.openxmlformats.org/officeDocument/2006/relationships/notesSlide"/></Relationships>
</file>

<file path=ppt/slides/_rels/slide1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76.svg" Type="http://schemas.openxmlformats.org/officeDocument/2006/relationships/image"/><Relationship Id="rId11" Target="../media/image77.png" Type="http://schemas.openxmlformats.org/officeDocument/2006/relationships/image"/><Relationship Id="rId12" Target="../media/image78.svg" Type="http://schemas.openxmlformats.org/officeDocument/2006/relationships/image"/><Relationship Id="rId13" Target="../notesSlides/notesSlide19.xml" Type="http://schemas.openxmlformats.org/officeDocument/2006/relationships/notesSlide"/><Relationship Id="rId2" Target="../media/image3.jpe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71.png" Type="http://schemas.openxmlformats.org/officeDocument/2006/relationships/image"/><Relationship Id="rId6" Target="../media/image72.svg" Type="http://schemas.openxmlformats.org/officeDocument/2006/relationships/image"/><Relationship Id="rId7" Target="../media/image73.png" Type="http://schemas.openxmlformats.org/officeDocument/2006/relationships/image"/><Relationship Id="rId8" Target="../media/image74.svg" Type="http://schemas.openxmlformats.org/officeDocument/2006/relationships/image"/><Relationship Id="rId9" Target="../media/image75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84.jpeg" Type="http://schemas.openxmlformats.org/officeDocument/2006/relationships/image"/><Relationship Id="rId11" Target="../notesSlides/notesSlide20.xml" Type="http://schemas.openxmlformats.org/officeDocument/2006/relationships/notesSlide"/><Relationship Id="rId2" Target="../media/image3.jpeg" Type="http://schemas.openxmlformats.org/officeDocument/2006/relationships/image"/><Relationship Id="rId3" Target="../media/image60.png" Type="http://schemas.openxmlformats.org/officeDocument/2006/relationships/image"/><Relationship Id="rId4" Target="../media/image61.svg" Type="http://schemas.openxmlformats.org/officeDocument/2006/relationships/image"/><Relationship Id="rId5" Target="../media/image79.png" Type="http://schemas.openxmlformats.org/officeDocument/2006/relationships/image"/><Relationship Id="rId6" Target="../media/image80.svg" Type="http://schemas.openxmlformats.org/officeDocument/2006/relationships/image"/><Relationship Id="rId7" Target="../media/image81.png" Type="http://schemas.openxmlformats.org/officeDocument/2006/relationships/image"/><Relationship Id="rId8" Target="../media/image82.svg" Type="http://schemas.openxmlformats.org/officeDocument/2006/relationships/image"/><Relationship Id="rId9" Target="../media/image83.jpe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85.jpeg" Type="http://schemas.openxmlformats.org/officeDocument/2006/relationships/image"/><Relationship Id="rId3" Target="../notesSlides/notesSlide21.xml" Type="http://schemas.openxmlformats.org/officeDocument/2006/relationships/notesSlide"/><Relationship Id="rId4" Target="../media/image86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4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6858000" y="1905000"/>
            <a:ext cx="47244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4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石材幕墙污渍检测系统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6858000" y="3175000"/>
            <a:ext cx="10160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6858000" y="3556000"/>
            <a:ext cx="47244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22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项目管理与经济分析汇报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-9241" flipH="false" flipV="false">
            <a:off x="6858009" y="4565650"/>
            <a:ext cx="4724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7" id="7"/>
          <p:cNvSpPr/>
          <p:nvPr/>
        </p:nvSpPr>
        <p:spPr>
          <a:xfrm rot="0" flipH="false" flipV="false">
            <a:off x="6858000" y="4826000"/>
            <a:ext cx="47244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汇报团队：项目经理 于广淳 / 项目助理 周慧星   |   指导教师：黄杰 教授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858000" y="5715000"/>
            <a:ext cx="47244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汇报日期：2026年6月</a:t>
            </a:r>
            <a:endParaRPr lang="en-US" sz="1100"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3"/>
          <a:srcRect l="0" r="0" t="207" b="207"/>
          <a:stretch>
            <a:fillRect/>
          </a:stretch>
        </p:blipFill>
        <p:spPr>
          <a:xfrm rot="0" flipH="false" flipV="false">
            <a:off x="508000" y="5461000"/>
            <a:ext cx="762000" cy="762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目 录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2032000"/>
            <a:ext cx="3378200" cy="177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2032000"/>
            <a:ext cx="76200" cy="17780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2222500"/>
            <a:ext cx="28702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10B981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2921000"/>
            <a:ext cx="28702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项目背景与目标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剖析项目发起的深层动因，明确核心愿景与预期达成的关键目标。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4394200" y="2032000"/>
            <a:ext cx="3378200" cy="177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394200" y="2032000"/>
            <a:ext cx="76200" cy="17780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4648200" y="2222500"/>
            <a:ext cx="28702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10B981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648200" y="2921000"/>
            <a:ext cx="28702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系统介绍与核心功能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详细展示系统架构设计，解析关键技术路径与核心业务功能模块。</a:t>
            </a:r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8026400" y="2032000"/>
            <a:ext cx="3378200" cy="177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8026400" y="2032000"/>
            <a:ext cx="76200" cy="17780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8280400" y="2222500"/>
            <a:ext cx="28702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10B981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280400" y="2921000"/>
            <a:ext cx="28702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项目管理过程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复盘从启动到交付的全流程管控，分享团队协作与风险管理的实践。</a:t>
            </a:r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762000" y="4318000"/>
            <a:ext cx="5245100" cy="177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762000" y="4318000"/>
            <a:ext cx="76200" cy="17780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1016000" y="4508500"/>
            <a:ext cx="47371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10B981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1016000" y="5207000"/>
            <a:ext cx="47371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经济分析与商业价值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从投入产出比、成本节约及长期收益维度，量化项目的经济价值与市场潜力。</a:t>
            </a:r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6184900" y="4318000"/>
            <a:ext cx="5245100" cy="177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6184900" y="4318000"/>
            <a:ext cx="76200" cy="17780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6438900" y="4508500"/>
            <a:ext cx="47371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10B981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05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6438900" y="5207000"/>
            <a:ext cx="47371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结论与未来展望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总结项目成果与经验教训，规划下一阶段的迭代方向与战略发展蓝图。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4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16000" y="1270000"/>
            <a:ext cx="3810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9600">
                <a:solidFill>
                  <a:srgbClr val="10B981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2540000"/>
            <a:ext cx="1016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4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项目背景与目标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3937000"/>
            <a:ext cx="10160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4572000"/>
            <a:ext cx="10160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WHY WE STARTED —— 深入探讨石材幕墙维护领域的行业痛点，明确项目发起的核心初衷与愿景，为后续方案落地锚定方向。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项目背景：行业痛点分析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524000"/>
            <a:ext cx="6604000" cy="1079500"/>
          </a:xfrm>
          <a:prstGeom prst="roundRect">
            <a:avLst>
              <a:gd name="adj" fmla="val 0"/>
            </a:avLst>
          </a:prstGeom>
          <a:solidFill>
            <a:srgbClr val="10B981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524000"/>
            <a:ext cx="76200" cy="10795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1651000"/>
            <a:ext cx="60960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随着现代建筑中石材幕墙的广泛应用，其表面因气候变化、环境污染及建筑使用等因素，极易积累各类污渍，不仅破坏建筑整体视觉效果，更逐渐成为建筑运维中的突出难题。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3048000"/>
            <a:ext cx="6604000" cy="1143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952500" y="3238500"/>
            <a:ext cx="406400" cy="4064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1651000" y="3149600"/>
            <a:ext cx="5461000" cy="939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01. 影响建筑功能与寿命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污渍附着不仅影响美观，更会侵蚀幕墙表面，损害隔热、隔音、抗风压等核心物理性能，长期积累将大幅缩短幕墙的正常使用寿命，增加后期修复成本。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762000" y="4381500"/>
            <a:ext cx="6604000" cy="1143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952500" y="4572000"/>
            <a:ext cx="406400" cy="4064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1651000" y="4483100"/>
            <a:ext cx="5461000" cy="939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02. 传统人工巡检效率低下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传统模式完全依赖人力目视排查，不仅巡检速度慢、覆盖范围有限，且难以形成标准化的检测记录，无法满足现代大型建筑群大规模、高频次的常态化运维需求。</a:t>
            </a:r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62000" y="5588000"/>
            <a:ext cx="6604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952500" y="5740400"/>
            <a:ext cx="406400" cy="4064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1651000" y="5664200"/>
            <a:ext cx="5461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03. 高空作业成本高、风险大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人工巡检与清洁需频繁开展高空作业，人力成本居高不下，同时面临高空坠落、意外磕碰等显著安全风险，给项目管理带来极大的安全管控压力。</a:t>
            </a:r>
          </a:p>
        </p:txBody>
      </p:sp>
      <p:cxnSp>
        <p:nvCxnSpPr>
          <p:cNvPr name="Connector 16" id="16"/>
          <p:cNvCxnSpPr/>
          <p:nvPr/>
        </p:nvCxnSpPr>
        <p:spPr>
          <a:xfrm rot="5391185" flipH="false" flipV="false">
            <a:off x="5397500" y="3994158"/>
            <a:ext cx="4953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10B981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name="Picture 17" id="17"/>
          <p:cNvPicPr>
            <a:picLocks noChangeAspect="true"/>
          </p:cNvPicPr>
          <p:nvPr/>
        </p:nvPicPr>
        <p:blipFill>
          <a:blip r:embed="rId9"/>
          <a:srcRect l="0" r="0" t="2307" b="2307"/>
          <a:stretch>
            <a:fillRect/>
          </a:stretch>
        </p:blipFill>
        <p:spPr>
          <a:xfrm rot="0" flipH="false" flipV="false">
            <a:off x="8128000" y="2032000"/>
            <a:ext cx="3175000" cy="2032000"/>
          </a:xfrm>
          <a:prstGeom prst="rect">
            <a:avLst/>
          </a:prstGeom>
          <a:noFill/>
          <a:ln w="25400" cmpd="sng" cap="flat">
            <a:solidFill>
              <a:srgbClr val="FFFFFF">
                <a:alpha val="80000"/>
              </a:srgbClr>
            </a:solidFill>
            <a:prstDash val="solid"/>
            <a:round/>
          </a:ln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0"/>
          <a:srcRect l="0" r="0" t="591" b="591"/>
          <a:stretch>
            <a:fillRect/>
          </a:stretch>
        </p:blipFill>
        <p:spPr>
          <a:xfrm rot="0" flipH="false" flipV="false">
            <a:off x="8128000" y="4318000"/>
            <a:ext cx="3175000" cy="2032000"/>
          </a:xfrm>
          <a:prstGeom prst="rect">
            <a:avLst/>
          </a:prstGeom>
          <a:noFill/>
          <a:ln w="25400" cmpd="sng" cap="flat">
            <a:solidFill>
              <a:srgbClr val="FFFFFF">
                <a:alpha val="80000"/>
              </a:srgbClr>
            </a:solidFill>
            <a:prstDash val="solid"/>
            <a:round/>
          </a:ln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项目定位与目标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651000"/>
            <a:ext cx="5270500" cy="177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651000"/>
            <a:ext cx="76200" cy="17780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1841500"/>
            <a:ext cx="4762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01. 项目定位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-9167" flipH="false" flipV="false">
            <a:off x="1016008" y="23431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374151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8" id="8"/>
          <p:cNvSpPr/>
          <p:nvPr/>
        </p:nvSpPr>
        <p:spPr>
          <a:xfrm rot="0" flipH="false" flipV="false">
            <a:off x="1016000" y="2540000"/>
            <a:ext cx="47625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本项目是同济大学计算机科学与技术学院“智慧幕墙大系统”下的关键子系统——“污渍检测子系统”，聚焦于幕墙表面污渍的智能化识别与分析。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286500" y="1651000"/>
            <a:ext cx="5270500" cy="177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286500" y="1651000"/>
            <a:ext cx="76200" cy="17780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540500" y="1841500"/>
            <a:ext cx="4762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02. 项目性质</a:t>
            </a:r>
            <a:endParaRPr lang="en-US" sz="1100"/>
          </a:p>
        </p:txBody>
      </p:sp>
      <p:cxnSp>
        <p:nvCxnSpPr>
          <p:cNvPr name="Connector 12" id="12"/>
          <p:cNvCxnSpPr/>
          <p:nvPr/>
        </p:nvCxnSpPr>
        <p:spPr>
          <a:xfrm rot="-9167" flipH="false" flipV="false">
            <a:off x="6540508" y="23431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374151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3" id="13"/>
          <p:cNvSpPr/>
          <p:nvPr/>
        </p:nvSpPr>
        <p:spPr>
          <a:xfrm rot="0" flipH="false" flipV="false">
            <a:off x="6540500" y="2540000"/>
            <a:ext cx="47625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属于全新开发项目，旨在从零搭建一套完整的、可规模化部署的自动化检测解决方案，彻底替代传统效率低、主观性强的人工巡检模式。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762000" y="4064000"/>
            <a:ext cx="3467100" cy="2032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952500" y="4254500"/>
            <a:ext cx="355600" cy="3556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1397000" y="4216400"/>
            <a:ext cx="2667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技术目标：智能驱动</a:t>
            </a:r>
            <a:endParaRPr lang="en-US" sz="1100"/>
          </a:p>
        </p:txBody>
      </p:sp>
      <p:cxnSp>
        <p:nvCxnSpPr>
          <p:cNvPr name="Connector 17" id="17"/>
          <p:cNvCxnSpPr/>
          <p:nvPr/>
        </p:nvCxnSpPr>
        <p:spPr>
          <a:xfrm rot="-14147" flipH="false" flipV="false">
            <a:off x="952513" y="4756150"/>
            <a:ext cx="30861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10B981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8" id="18"/>
          <p:cNvSpPr/>
          <p:nvPr/>
        </p:nvSpPr>
        <p:spPr>
          <a:xfrm rot="0" flipH="false" flipV="false">
            <a:off x="952500" y="4953000"/>
            <a:ext cx="30861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利用计算机视觉与YOLO系列深度学习技术，构建端到端的自动化、智能化检测系统，实现从图像采集到结果输出的全流程闭环。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4483100" y="4064000"/>
            <a:ext cx="3467100" cy="2032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4673600" y="4254500"/>
            <a:ext cx="355600" cy="355600"/>
          </a:xfrm>
          <a:prstGeom prst="rect">
            <a:avLst/>
          </a:prstGeom>
        </p:spPr>
      </p:pic>
      <p:sp>
        <p:nvSpPr>
          <p:cNvPr name="AutoShape 21" id="21"/>
          <p:cNvSpPr/>
          <p:nvPr/>
        </p:nvSpPr>
        <p:spPr>
          <a:xfrm rot="0" flipH="false" flipV="false">
            <a:off x="5118100" y="4216400"/>
            <a:ext cx="2667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业务目标：提质增效</a:t>
            </a:r>
            <a:endParaRPr lang="en-US" sz="1100"/>
          </a:p>
        </p:txBody>
      </p:sp>
      <p:cxnSp>
        <p:nvCxnSpPr>
          <p:cNvPr name="Connector 22" id="22"/>
          <p:cNvCxnSpPr/>
          <p:nvPr/>
        </p:nvCxnSpPr>
        <p:spPr>
          <a:xfrm rot="-14147" flipH="false" flipV="false">
            <a:off x="4673613" y="4756150"/>
            <a:ext cx="30861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10B981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3" id="23"/>
          <p:cNvSpPr/>
          <p:nvPr/>
        </p:nvSpPr>
        <p:spPr>
          <a:xfrm rot="0" flipH="false" flipV="false">
            <a:off x="4673600" y="4953000"/>
            <a:ext cx="30861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针对石材幕墙污渍实现快速、精准、全天候的自动检测，大幅降低人工成本，消除人工巡检的疏漏与安全隐患，提升运维管理效率。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8204200" y="4064000"/>
            <a:ext cx="3467100" cy="2032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5" id="25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8394700" y="4254500"/>
            <a:ext cx="355600" cy="355600"/>
          </a:xfrm>
          <a:prstGeom prst="rect">
            <a:avLst/>
          </a:prstGeom>
        </p:spPr>
      </p:pic>
      <p:sp>
        <p:nvSpPr>
          <p:cNvPr name="AutoShape 26" id="26"/>
          <p:cNvSpPr/>
          <p:nvPr/>
        </p:nvSpPr>
        <p:spPr>
          <a:xfrm rot="0" flipH="false" flipV="false">
            <a:off x="8839200" y="4216400"/>
            <a:ext cx="2667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价值目标：资产沉淀</a:t>
            </a:r>
            <a:endParaRPr lang="en-US" sz="1100"/>
          </a:p>
        </p:txBody>
      </p:sp>
      <p:cxnSp>
        <p:nvCxnSpPr>
          <p:cNvPr name="Connector 27" id="27"/>
          <p:cNvCxnSpPr/>
          <p:nvPr/>
        </p:nvCxnSpPr>
        <p:spPr>
          <a:xfrm rot="-14147" flipH="false" flipV="false">
            <a:off x="8394713" y="4756150"/>
            <a:ext cx="30861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10B981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8" id="28"/>
          <p:cNvSpPr/>
          <p:nvPr/>
        </p:nvSpPr>
        <p:spPr>
          <a:xfrm rot="0" flipH="false" flipV="false">
            <a:off x="8394700" y="4953000"/>
            <a:ext cx="3086100" cy="1016000"/>
          </a:xfrm>
          <a:prstGeom prst="rect">
            <a:avLst/>
          </a:prstGeom>
          <a:solidFill>
            <a:srgbClr val="FFFFFF">
              <a:alpha val="0"/>
            </a:srgbClr>
          </a:solidFill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将训练成熟的YOLO检测模型封装为标准化的核心资产，提供统一接口供智慧幕墙大系统内其他子系统调用，支撑业务场景的持续扩展。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4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16000" y="889000"/>
            <a:ext cx="3175000" cy="190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0">
                <a:solidFill>
                  <a:srgbClr val="10B981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2540000"/>
            <a:ext cx="1016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4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系统介绍与核心功能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3937000"/>
            <a:ext cx="10160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44450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WHAT WE DID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5207000"/>
            <a:ext cx="9906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本章节将深入剖析系统的整体架构设计，详解核心技术栈的选型逻辑，并展示系统在实际应用场景中所具备的关键功能与独特优势。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系统架构概览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2700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6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采用前后端分离的现代化架构，深度集成先进的深度学习模型与云原生技术，确保系统具备极致的灵活性、可扩展性与易维护性。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2286000"/>
            <a:ext cx="3429000" cy="1587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mpd="sng" cap="flat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952500" y="2476500"/>
            <a:ext cx="355600" cy="3556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460500" y="2438400"/>
            <a:ext cx="2603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前端交互层 (Vue3)</a:t>
            </a:r>
            <a:endParaRPr lang="en-US" sz="1100"/>
          </a:p>
        </p:txBody>
      </p:sp>
      <p:cxnSp>
        <p:nvCxnSpPr>
          <p:cNvPr name="Connector 8" id="8"/>
          <p:cNvCxnSpPr/>
          <p:nvPr/>
        </p:nvCxnSpPr>
        <p:spPr>
          <a:xfrm rot="-14323" flipH="false" flipV="false">
            <a:off x="952513" y="29781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10B981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9" id="9"/>
          <p:cNvSpPr/>
          <p:nvPr/>
        </p:nvSpPr>
        <p:spPr>
          <a:xfrm rot="0" flipH="false" flipV="false">
            <a:off x="952500" y="3111500"/>
            <a:ext cx="304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基于Vue3框架开发，配合Element Plus组件库，构建响应式、交互友好的现代化Web界面，提供流畅的用户体验。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4381500" y="2286000"/>
            <a:ext cx="3429000" cy="1587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mpd="sng" cap="flat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4572000" y="2476500"/>
            <a:ext cx="355600" cy="3556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5080000" y="2438400"/>
            <a:ext cx="2603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后端服务层 (FastAPI)</a:t>
            </a:r>
            <a:endParaRPr lang="en-US" sz="1100"/>
          </a:p>
        </p:txBody>
      </p:sp>
      <p:cxnSp>
        <p:nvCxnSpPr>
          <p:cNvPr name="Connector 13" id="13"/>
          <p:cNvCxnSpPr/>
          <p:nvPr/>
        </p:nvCxnSpPr>
        <p:spPr>
          <a:xfrm rot="-14323" flipH="false" flipV="false">
            <a:off x="4572013" y="29781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10B981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4" id="14"/>
          <p:cNvSpPr/>
          <p:nvPr/>
        </p:nvSpPr>
        <p:spPr>
          <a:xfrm rot="0" flipH="false" flipV="false">
            <a:off x="4572000" y="3111500"/>
            <a:ext cx="304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构建高性能、异步的RESTful API接口，自动生成交互式文档，支持高并发请求处理，保障数据传输的高效与安全。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001000" y="2286000"/>
            <a:ext cx="3429000" cy="1587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mpd="sng" cap="flat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8191500" y="2476500"/>
            <a:ext cx="355600" cy="3556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8699500" y="2438400"/>
            <a:ext cx="2603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智能核心层 (YOLO)</a:t>
            </a:r>
            <a:endParaRPr lang="en-US" sz="1100"/>
          </a:p>
        </p:txBody>
      </p:sp>
      <p:cxnSp>
        <p:nvCxnSpPr>
          <p:cNvPr name="Connector 18" id="18"/>
          <p:cNvCxnSpPr/>
          <p:nvPr/>
        </p:nvCxnSpPr>
        <p:spPr>
          <a:xfrm rot="-14323" flipH="false" flipV="false">
            <a:off x="8191513" y="29781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10B981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9" id="19"/>
          <p:cNvSpPr/>
          <p:nvPr/>
        </p:nvSpPr>
        <p:spPr>
          <a:xfrm rot="0" flipH="false" flipV="false">
            <a:off x="8191500" y="3111500"/>
            <a:ext cx="304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集成YOLOv8深度学习模型，针对业务场景进行专项训练与优化，实现毫秒级的目标检测与图像分析能力。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762000" y="4191000"/>
            <a:ext cx="53594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mpd="sng" cap="flat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952500" y="4381500"/>
            <a:ext cx="355600" cy="355600"/>
          </a:xfrm>
          <a:prstGeom prst="rect">
            <a:avLst/>
          </a:prstGeom>
        </p:spPr>
      </p:pic>
      <p:sp>
        <p:nvSpPr>
          <p:cNvPr name="AutoShape 22" id="22"/>
          <p:cNvSpPr/>
          <p:nvPr/>
        </p:nvSpPr>
        <p:spPr>
          <a:xfrm rot="0" flipH="false" flipV="false">
            <a:off x="1460500" y="4343400"/>
            <a:ext cx="4445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混合数据存储体系</a:t>
            </a:r>
            <a:endParaRPr lang="en-US" sz="1100"/>
          </a:p>
        </p:txBody>
      </p:sp>
      <p:cxnSp>
        <p:nvCxnSpPr>
          <p:cNvPr name="Connector 23" id="23"/>
          <p:cNvCxnSpPr/>
          <p:nvPr/>
        </p:nvCxnSpPr>
        <p:spPr>
          <a:xfrm rot="-8769" flipH="false" flipV="false">
            <a:off x="952508" y="4819650"/>
            <a:ext cx="4978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10B981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4" id="24"/>
          <p:cNvSpPr/>
          <p:nvPr/>
        </p:nvSpPr>
        <p:spPr>
          <a:xfrm rot="0" flipH="false" flipV="false">
            <a:off x="952500" y="4927600"/>
            <a:ext cx="4953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采用MySQL管理结构化业务元数据，结合阿里云OSS对象存储服务存储海量图像文件，兼顾数据一致性与存储弹性。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6311900" y="4191000"/>
            <a:ext cx="53594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mpd="sng" cap="flat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6" id="26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 flipH="false" flipV="false">
            <a:off x="6502400" y="4381500"/>
            <a:ext cx="355600" cy="355600"/>
          </a:xfrm>
          <a:prstGeom prst="rect">
            <a:avLst/>
          </a:prstGeom>
        </p:spPr>
      </p:pic>
      <p:sp>
        <p:nvSpPr>
          <p:cNvPr name="AutoShape 27" id="27"/>
          <p:cNvSpPr/>
          <p:nvPr/>
        </p:nvSpPr>
        <p:spPr>
          <a:xfrm rot="0" flipH="false" flipV="false">
            <a:off x="7010400" y="4343400"/>
            <a:ext cx="4445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云原生容器化部署</a:t>
            </a:r>
            <a:endParaRPr lang="en-US" sz="1100"/>
          </a:p>
        </p:txBody>
      </p:sp>
      <p:cxnSp>
        <p:nvCxnSpPr>
          <p:cNvPr name="Connector 28" id="28"/>
          <p:cNvCxnSpPr/>
          <p:nvPr/>
        </p:nvCxnSpPr>
        <p:spPr>
          <a:xfrm rot="-8769" flipH="false" flipV="false">
            <a:off x="6502408" y="4819650"/>
            <a:ext cx="4978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10B981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9" id="29"/>
          <p:cNvSpPr/>
          <p:nvPr/>
        </p:nvSpPr>
        <p:spPr>
          <a:xfrm rot="0" flipH="false" flipV="false">
            <a:off x="6502400" y="4927600"/>
            <a:ext cx="4953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通过Docker与Docker Compose实现全系统容器化，消除环境差异，支持快速扩展、回滚与多环境一致性交付。</a:t>
            </a:r>
            <a:endParaRPr lang="en-US" sz="1100"/>
          </a:p>
        </p:txBody>
      </p:sp>
      <p:cxnSp>
        <p:nvCxnSpPr>
          <p:cNvPr name="Connector 30" id="30"/>
          <p:cNvCxnSpPr/>
          <p:nvPr/>
        </p:nvCxnSpPr>
        <p:spPr>
          <a:xfrm rot="-4092" flipH="false" flipV="false">
            <a:off x="762004" y="57721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10B981">
                <a:alpha val="4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name="Picture 31" id="31"/>
          <p:cNvPicPr>
            <a:picLocks noChangeAspect="true"/>
          </p:cNvPicPr>
          <p:nvPr/>
        </p:nvPicPr>
        <p:blipFill>
          <a:blip r:embed="rId13"/>
          <a:srcRect l="0" r="0" t="0" b="0"/>
          <a:stretch>
            <a:fillRect/>
          </a:stretch>
        </p:blipFill>
        <p:spPr>
          <a:xfrm rot="0" flipH="false" flipV="false">
            <a:off x="762000" y="5943600"/>
            <a:ext cx="571500" cy="5715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2" id="32"/>
          <p:cNvSpPr/>
          <p:nvPr/>
        </p:nvSpPr>
        <p:spPr>
          <a:xfrm rot="0" flipH="false" flipV="false">
            <a:off x="1460500" y="5969000"/>
            <a:ext cx="203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Vue3</a:t>
            </a: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| 现代前端框架</a:t>
            </a:r>
            <a:endParaRPr lang="en-US" sz="1100"/>
          </a:p>
        </p:txBody>
      </p:sp>
      <p:cxnSp>
        <p:nvCxnSpPr>
          <p:cNvPr name="Connector 33" id="33"/>
          <p:cNvCxnSpPr/>
          <p:nvPr/>
        </p:nvCxnSpPr>
        <p:spPr>
          <a:xfrm rot="5301805" flipH="false" flipV="false">
            <a:off x="3460750" y="6184991"/>
            <a:ext cx="444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00000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34" id="34"/>
          <p:cNvPicPr>
            <a:picLocks noChangeAspect="true"/>
          </p:cNvPicPr>
          <p:nvPr/>
        </p:nvPicPr>
        <p:blipFill>
          <a:blip r:embed="rId14"/>
          <a:srcRect l="0" r="0" t="0" b="0"/>
          <a:stretch>
            <a:fillRect/>
          </a:stretch>
        </p:blipFill>
        <p:spPr>
          <a:xfrm rot="0" flipH="false" flipV="false">
            <a:off x="3873500" y="5943600"/>
            <a:ext cx="571500" cy="5715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5" id="35"/>
          <p:cNvSpPr/>
          <p:nvPr/>
        </p:nvSpPr>
        <p:spPr>
          <a:xfrm rot="0" flipH="false" flipV="false">
            <a:off x="4572000" y="5969000"/>
            <a:ext cx="203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FastAPI</a:t>
            </a: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| 高性能API服务</a:t>
            </a:r>
            <a:endParaRPr lang="en-US" sz="1100"/>
          </a:p>
        </p:txBody>
      </p:sp>
      <p:cxnSp>
        <p:nvCxnSpPr>
          <p:cNvPr name="Connector 36" id="36"/>
          <p:cNvCxnSpPr/>
          <p:nvPr/>
        </p:nvCxnSpPr>
        <p:spPr>
          <a:xfrm rot="5301805" flipH="false" flipV="false">
            <a:off x="6445250" y="6184991"/>
            <a:ext cx="444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00000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37" id="37"/>
          <p:cNvPicPr>
            <a:picLocks noChangeAspect="true"/>
          </p:cNvPicPr>
          <p:nvPr/>
        </p:nvPicPr>
        <p:blipFill>
          <a:blip r:embed="rId15"/>
          <a:srcRect l="0" r="0" t="0" b="0"/>
          <a:stretch>
            <a:fillRect/>
          </a:stretch>
        </p:blipFill>
        <p:spPr>
          <a:xfrm rot="0" flipH="false" flipV="false">
            <a:off x="6858000" y="5943600"/>
            <a:ext cx="571500" cy="5715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8" id="38"/>
          <p:cNvSpPr/>
          <p:nvPr/>
        </p:nvSpPr>
        <p:spPr>
          <a:xfrm rot="0" flipH="false" flipV="false">
            <a:off x="7556500" y="5969000"/>
            <a:ext cx="177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YOLOv8</a:t>
            </a: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| 核心算法模型</a:t>
            </a:r>
            <a:endParaRPr lang="en-US" sz="1100"/>
          </a:p>
        </p:txBody>
      </p:sp>
      <p:cxnSp>
        <p:nvCxnSpPr>
          <p:cNvPr name="Connector 39" id="39"/>
          <p:cNvCxnSpPr/>
          <p:nvPr/>
        </p:nvCxnSpPr>
        <p:spPr>
          <a:xfrm rot="5301805" flipH="false" flipV="false">
            <a:off x="9112250" y="6184991"/>
            <a:ext cx="444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00000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40" id="40"/>
          <p:cNvPicPr>
            <a:picLocks noChangeAspect="true"/>
          </p:cNvPicPr>
          <p:nvPr/>
        </p:nvPicPr>
        <p:blipFill>
          <a:blip r:embed="rId16"/>
          <a:srcRect l="0" r="0" t="0" b="0"/>
          <a:stretch>
            <a:fillRect/>
          </a:stretch>
        </p:blipFill>
        <p:spPr>
          <a:xfrm rot="0" flipH="false" flipV="false">
            <a:off x="9525000" y="5943600"/>
            <a:ext cx="571500" cy="5715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41" id="41"/>
          <p:cNvSpPr/>
          <p:nvPr/>
        </p:nvSpPr>
        <p:spPr>
          <a:xfrm rot="0" flipH="false" flipV="false">
            <a:off x="10223500" y="5969000"/>
            <a:ext cx="1524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Docker</a:t>
            </a: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| 容器化交付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核心技术与工作流程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651000"/>
            <a:ext cx="106680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mpd="sng" cap="flat">
            <a:solidFill>
              <a:srgbClr val="10B981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1841500"/>
            <a:ext cx="609600" cy="6096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905000" y="1778000"/>
            <a:ext cx="9144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8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核心技术：YOLO 深度学习目标检测算法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项目采用 You Only Look Once (YOLO) 系列算法作为核心，该算法以端到端的检测方式实现了检测速度与精度的完美平衡，能够快速定位并识别石材幕墙表面的各类污渍区域，非常适配工业场景下的实时、高效检测需求。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3429000"/>
            <a:ext cx="10668000" cy="25400"/>
          </a:xfrm>
          <a:prstGeom prst="roundRect">
            <a:avLst>
              <a:gd name="adj" fmla="val 0"/>
            </a:avLst>
          </a:prstGeom>
          <a:solidFill>
            <a:srgbClr val="10B981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62000" y="3937000"/>
            <a:ext cx="1955800" cy="2159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762000" y="3937000"/>
            <a:ext cx="19558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952500" y="4191000"/>
            <a:ext cx="406400" cy="4064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889000" y="4762500"/>
            <a:ext cx="1701800" cy="1206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01 图像上传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用户通过简洁的前端交互界面，快速上传待检测的石材幕墙现场图像，支持多种主流图片格式。</a:t>
            </a:r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2971800" y="3937000"/>
            <a:ext cx="1955800" cy="2159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2971800" y="3937000"/>
            <a:ext cx="19558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3162300" y="4191000"/>
            <a:ext cx="406400" cy="4064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3098800" y="4762500"/>
            <a:ext cx="1701800" cy="1206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02 图像预处理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系统自动执行尺寸统一、对比度增强与非局部均值去噪，提升图像质量，为后续模型推理奠定基础。</a:t>
            </a:r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5181600" y="3937000"/>
            <a:ext cx="1955800" cy="2159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5181600" y="3937000"/>
            <a:ext cx="19558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5372100" y="4191000"/>
            <a:ext cx="406400" cy="406400"/>
          </a:xfrm>
          <a:prstGeom prst="rect">
            <a:avLst/>
          </a:prstGeom>
        </p:spPr>
      </p:pic>
      <p:sp>
        <p:nvSpPr>
          <p:cNvPr name="AutoShape 19" id="19"/>
          <p:cNvSpPr/>
          <p:nvPr/>
        </p:nvSpPr>
        <p:spPr>
          <a:xfrm rot="0" flipH="false" flipV="false">
            <a:off x="5308600" y="4762500"/>
            <a:ext cx="1701800" cy="1206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03 AI模型检测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后端高性能计算服务调用YOLO模型进行推理，精准识别并框选出图像中的污渍位置与类别信息。</a:t>
            </a:r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7391400" y="3937000"/>
            <a:ext cx="1955800" cy="2159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7391400" y="3937000"/>
            <a:ext cx="19558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5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2" id="22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 flipH="false" flipV="false">
            <a:off x="7581900" y="4191000"/>
            <a:ext cx="406400" cy="406400"/>
          </a:xfrm>
          <a:prstGeom prst="rect">
            <a:avLst/>
          </a:prstGeom>
        </p:spPr>
      </p:pic>
      <p:sp>
        <p:nvSpPr>
          <p:cNvPr name="AutoShape 23" id="23"/>
          <p:cNvSpPr/>
          <p:nvPr/>
        </p:nvSpPr>
        <p:spPr>
          <a:xfrm rot="0" flipH="false" flipV="false">
            <a:off x="7518400" y="4762500"/>
            <a:ext cx="1701800" cy="1206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04 结果分析计算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算法自动统计污渍区域的像素点数量，精确计算出污渍在整幅图像中所占的面积比例，量化污染程度。</a:t>
            </a:r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9474200" y="3937000"/>
            <a:ext cx="1955800" cy="2159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9474200" y="3937000"/>
            <a:ext cx="19558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4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6" id="26"/>
          <p:cNvPicPr>
            <a:picLocks noChangeAspect="true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0" flipH="false" flipV="false">
            <a:off x="9664700" y="4191000"/>
            <a:ext cx="406400" cy="406400"/>
          </a:xfrm>
          <a:prstGeom prst="rect">
            <a:avLst/>
          </a:prstGeom>
        </p:spPr>
      </p:pic>
      <p:sp>
        <p:nvSpPr>
          <p:cNvPr name="AutoShape 27" id="27"/>
          <p:cNvSpPr/>
          <p:nvPr/>
        </p:nvSpPr>
        <p:spPr>
          <a:xfrm rot="0" flipH="false" flipV="false">
            <a:off x="9601200" y="4762500"/>
            <a:ext cx="1701800" cy="1206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05 结果呈现与报告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实时展示带标记框的检测图像与占比数据，并支持一键生成标准化的PDF检测报告，便于存档与分析。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项目可交付成果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4092" flipH="false" flipV="false">
            <a:off x="762004" y="1390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10B981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5" id="5"/>
          <p:cNvSpPr/>
          <p:nvPr/>
        </p:nvSpPr>
        <p:spPr>
          <a:xfrm rot="0" flipH="false" flipV="false">
            <a:off x="762000" y="1778000"/>
            <a:ext cx="34290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1778000"/>
            <a:ext cx="76200" cy="13335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1968500"/>
            <a:ext cx="304800" cy="3048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1460500" y="1930400"/>
            <a:ext cx="254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01. 项目定义说明（POS）</a:t>
            </a:r>
            <a:endParaRPr lang="en-US" sz="1100"/>
          </a:p>
        </p:txBody>
      </p:sp>
      <p:cxnSp>
        <p:nvCxnSpPr>
          <p:cNvPr name="Connector 9" id="9"/>
          <p:cNvCxnSpPr/>
          <p:nvPr/>
        </p:nvCxnSpPr>
        <p:spPr>
          <a:xfrm rot="-14946" flipH="false" flipV="false">
            <a:off x="1016014" y="2533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374151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10" id="10"/>
          <p:cNvSpPr/>
          <p:nvPr/>
        </p:nvSpPr>
        <p:spPr>
          <a:xfrm rot="0" flipH="false" flipV="false">
            <a:off x="1016000" y="2667000"/>
            <a:ext cx="2921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状态：</a:t>
            </a:r>
            <a:r>
              <a:rPr lang="en-US" b="true" i="false" strike="noStrike" u="none" sz="13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已完成 · 确立项目核心目标与范围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762000" y="3429000"/>
            <a:ext cx="34290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762000" y="3429000"/>
            <a:ext cx="76200" cy="13335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016000" y="3619500"/>
            <a:ext cx="304800" cy="3048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1460500" y="3581400"/>
            <a:ext cx="254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02. 项目章程</a:t>
            </a:r>
            <a:endParaRPr lang="en-US" sz="1100"/>
          </a:p>
        </p:txBody>
      </p:sp>
      <p:cxnSp>
        <p:nvCxnSpPr>
          <p:cNvPr name="Connector 15" id="15"/>
          <p:cNvCxnSpPr/>
          <p:nvPr/>
        </p:nvCxnSpPr>
        <p:spPr>
          <a:xfrm rot="-14946" flipH="false" flipV="false">
            <a:off x="1016014" y="4184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374151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16" id="16"/>
          <p:cNvSpPr/>
          <p:nvPr/>
        </p:nvSpPr>
        <p:spPr>
          <a:xfrm rot="0" flipH="false" flipV="false">
            <a:off x="1016000" y="4318000"/>
            <a:ext cx="2921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状态：</a:t>
            </a:r>
            <a:r>
              <a:rPr lang="en-US" b="true" i="false" strike="noStrike" u="none" sz="13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已完成 · 正式授权项目启动与执行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762000" y="5080000"/>
            <a:ext cx="34290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762000" y="5080000"/>
            <a:ext cx="76200" cy="13335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016000" y="5270500"/>
            <a:ext cx="304800" cy="304800"/>
          </a:xfrm>
          <a:prstGeom prst="rect">
            <a:avLst/>
          </a:prstGeom>
        </p:spPr>
      </p:pic>
      <p:sp>
        <p:nvSpPr>
          <p:cNvPr name="AutoShape 20" id="20"/>
          <p:cNvSpPr/>
          <p:nvPr/>
        </p:nvSpPr>
        <p:spPr>
          <a:xfrm rot="0" flipH="false" flipV="false">
            <a:off x="1460500" y="5232400"/>
            <a:ext cx="254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03. 软件需求规格说明（SRS）</a:t>
            </a:r>
            <a:endParaRPr lang="en-US" sz="1100"/>
          </a:p>
        </p:txBody>
      </p:sp>
      <p:cxnSp>
        <p:nvCxnSpPr>
          <p:cNvPr name="Connector 21" id="21"/>
          <p:cNvCxnSpPr/>
          <p:nvPr/>
        </p:nvCxnSpPr>
        <p:spPr>
          <a:xfrm rot="-14946" flipH="false" flipV="false">
            <a:off x="1016014" y="5835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374151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22" id="22"/>
          <p:cNvSpPr/>
          <p:nvPr/>
        </p:nvSpPr>
        <p:spPr>
          <a:xfrm rot="0" flipH="false" flipV="false">
            <a:off x="1016000" y="5943600"/>
            <a:ext cx="2921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状态：</a:t>
            </a:r>
            <a:r>
              <a:rPr lang="en-US" b="true" i="false" strike="noStrike" u="none" sz="13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已完成 · 明确系统功能与非功能性需求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4445000" y="1778000"/>
            <a:ext cx="34290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4445000" y="1778000"/>
            <a:ext cx="76200" cy="13335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5" id="25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4699000" y="1968500"/>
            <a:ext cx="304800" cy="304800"/>
          </a:xfrm>
          <a:prstGeom prst="rect">
            <a:avLst/>
          </a:prstGeom>
        </p:spPr>
      </p:pic>
      <p:sp>
        <p:nvSpPr>
          <p:cNvPr name="AutoShape 26" id="26"/>
          <p:cNvSpPr/>
          <p:nvPr/>
        </p:nvSpPr>
        <p:spPr>
          <a:xfrm rot="0" flipH="false" flipV="false">
            <a:off x="5143500" y="1930400"/>
            <a:ext cx="254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04. 软件设计规格说明（SDS）</a:t>
            </a:r>
            <a:endParaRPr lang="en-US" sz="1100"/>
          </a:p>
        </p:txBody>
      </p:sp>
      <p:cxnSp>
        <p:nvCxnSpPr>
          <p:cNvPr name="Connector 27" id="27"/>
          <p:cNvCxnSpPr/>
          <p:nvPr/>
        </p:nvCxnSpPr>
        <p:spPr>
          <a:xfrm rot="-14946" flipH="false" flipV="false">
            <a:off x="4699014" y="2533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374151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28" id="28"/>
          <p:cNvSpPr/>
          <p:nvPr/>
        </p:nvSpPr>
        <p:spPr>
          <a:xfrm rot="0" flipH="false" flipV="false">
            <a:off x="4699000" y="2667000"/>
            <a:ext cx="2921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状态：</a:t>
            </a:r>
            <a:r>
              <a:rPr lang="en-US" b="true" i="false" strike="noStrike" u="none" sz="13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已完成 · 确定系统架构与模块设计方案</a:t>
            </a:r>
            <a:endParaRPr lang="en-US" sz="1100"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4445000" y="3429000"/>
            <a:ext cx="34290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4445000" y="3429000"/>
            <a:ext cx="76200" cy="13335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31" id="31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 flipH="false" flipV="false">
            <a:off x="4699000" y="3619500"/>
            <a:ext cx="304800" cy="304800"/>
          </a:xfrm>
          <a:prstGeom prst="rect">
            <a:avLst/>
          </a:prstGeom>
        </p:spPr>
      </p:pic>
      <p:sp>
        <p:nvSpPr>
          <p:cNvPr name="AutoShape 32" id="32"/>
          <p:cNvSpPr/>
          <p:nvPr/>
        </p:nvSpPr>
        <p:spPr>
          <a:xfrm rot="0" flipH="false" flipV="false">
            <a:off x="5143500" y="3581400"/>
            <a:ext cx="254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05. 软件规模与成本估算报告</a:t>
            </a:r>
            <a:endParaRPr lang="en-US" sz="1100"/>
          </a:p>
        </p:txBody>
      </p:sp>
      <p:cxnSp>
        <p:nvCxnSpPr>
          <p:cNvPr name="Connector 33" id="33"/>
          <p:cNvCxnSpPr/>
          <p:nvPr/>
        </p:nvCxnSpPr>
        <p:spPr>
          <a:xfrm rot="-14946" flipH="false" flipV="false">
            <a:off x="4699014" y="4184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374151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34" id="34"/>
          <p:cNvSpPr/>
          <p:nvPr/>
        </p:nvSpPr>
        <p:spPr>
          <a:xfrm rot="0" flipH="false" flipV="false">
            <a:off x="4699000" y="4318000"/>
            <a:ext cx="2921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状态：</a:t>
            </a:r>
            <a:r>
              <a:rPr lang="en-US" b="true" i="false" strike="noStrike" u="none" sz="13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已完成 · 精准测算工作量与投入成本</a:t>
            </a:r>
            <a:endParaRPr lang="en-US" sz="1100"/>
          </a:p>
        </p:txBody>
      </p:sp>
      <p:sp>
        <p:nvSpPr>
          <p:cNvPr name="AutoShape 35" id="35"/>
          <p:cNvSpPr/>
          <p:nvPr/>
        </p:nvSpPr>
        <p:spPr>
          <a:xfrm rot="0" flipH="false" flipV="false">
            <a:off x="4445000" y="5080000"/>
            <a:ext cx="34290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6" id="36"/>
          <p:cNvSpPr/>
          <p:nvPr/>
        </p:nvSpPr>
        <p:spPr>
          <a:xfrm rot="0" flipH="false" flipV="false">
            <a:off x="4445000" y="5080000"/>
            <a:ext cx="76200" cy="13335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37" id="37"/>
          <p:cNvPicPr>
            <a:picLocks noChangeAspect="true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0" flipH="false" flipV="false">
            <a:off x="4699000" y="5270500"/>
            <a:ext cx="304800" cy="304800"/>
          </a:xfrm>
          <a:prstGeom prst="rect">
            <a:avLst/>
          </a:prstGeom>
        </p:spPr>
      </p:pic>
      <p:sp>
        <p:nvSpPr>
          <p:cNvPr name="AutoShape 38" id="38"/>
          <p:cNvSpPr/>
          <p:nvPr/>
        </p:nvSpPr>
        <p:spPr>
          <a:xfrm rot="0" flipH="false" flipV="false">
            <a:off x="5143500" y="5232400"/>
            <a:ext cx="254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06. 污渍检测后端服务（FastAPI）</a:t>
            </a:r>
            <a:endParaRPr lang="en-US" sz="1100"/>
          </a:p>
        </p:txBody>
      </p:sp>
      <p:cxnSp>
        <p:nvCxnSpPr>
          <p:cNvPr name="Connector 39" id="39"/>
          <p:cNvCxnSpPr/>
          <p:nvPr/>
        </p:nvCxnSpPr>
        <p:spPr>
          <a:xfrm rot="-14946" flipH="false" flipV="false">
            <a:off x="4699014" y="5835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374151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40" id="40"/>
          <p:cNvSpPr/>
          <p:nvPr/>
        </p:nvSpPr>
        <p:spPr>
          <a:xfrm rot="0" flipH="false" flipV="false">
            <a:off x="4699000" y="5943600"/>
            <a:ext cx="2921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状态：</a:t>
            </a:r>
            <a:r>
              <a:rPr lang="en-US" b="true" i="false" strike="noStrike" u="none" sz="13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已完成 · 实现高效的接口与逻辑处理</a:t>
            </a:r>
            <a:endParaRPr lang="en-US" sz="1100"/>
          </a:p>
        </p:txBody>
      </p:sp>
      <p:sp>
        <p:nvSpPr>
          <p:cNvPr name="AutoShape 41" id="41"/>
          <p:cNvSpPr/>
          <p:nvPr/>
        </p:nvSpPr>
        <p:spPr>
          <a:xfrm rot="0" flipH="false" flipV="false">
            <a:off x="8128000" y="1778000"/>
            <a:ext cx="34290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2" id="42"/>
          <p:cNvSpPr/>
          <p:nvPr/>
        </p:nvSpPr>
        <p:spPr>
          <a:xfrm rot="0" flipH="false" flipV="false">
            <a:off x="8128000" y="1778000"/>
            <a:ext cx="76200" cy="13335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3" id="43"/>
          <p:cNvPicPr>
            <a:picLocks noChangeAspect="true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 rot="0" flipH="false" flipV="false">
            <a:off x="8382000" y="1968500"/>
            <a:ext cx="304800" cy="304800"/>
          </a:xfrm>
          <a:prstGeom prst="rect">
            <a:avLst/>
          </a:prstGeom>
        </p:spPr>
      </p:pic>
      <p:sp>
        <p:nvSpPr>
          <p:cNvPr name="AutoShape 44" id="44"/>
          <p:cNvSpPr/>
          <p:nvPr/>
        </p:nvSpPr>
        <p:spPr>
          <a:xfrm rot="0" flipH="false" flipV="false">
            <a:off x="8826500" y="1930400"/>
            <a:ext cx="254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07. YOLO检测模型（训练后权重）</a:t>
            </a:r>
            <a:endParaRPr lang="en-US" sz="1100"/>
          </a:p>
        </p:txBody>
      </p:sp>
      <p:cxnSp>
        <p:nvCxnSpPr>
          <p:cNvPr name="Connector 45" id="45"/>
          <p:cNvCxnSpPr/>
          <p:nvPr/>
        </p:nvCxnSpPr>
        <p:spPr>
          <a:xfrm rot="-14946" flipH="false" flipV="false">
            <a:off x="8382014" y="2533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374151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46" id="46"/>
          <p:cNvSpPr/>
          <p:nvPr/>
        </p:nvSpPr>
        <p:spPr>
          <a:xfrm rot="0" flipH="false" flipV="false">
            <a:off x="8382000" y="2667000"/>
            <a:ext cx="2921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状态：</a:t>
            </a:r>
            <a:r>
              <a:rPr lang="en-US" b="true" i="false" strike="noStrike" u="none" sz="13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已完成 · 训练出高精度的目标检测模型</a:t>
            </a:r>
            <a:endParaRPr lang="en-US" sz="1100"/>
          </a:p>
        </p:txBody>
      </p:sp>
      <p:sp>
        <p:nvSpPr>
          <p:cNvPr name="AutoShape 47" id="47"/>
          <p:cNvSpPr/>
          <p:nvPr/>
        </p:nvSpPr>
        <p:spPr>
          <a:xfrm rot="0" flipH="false" flipV="false">
            <a:off x="8128000" y="3429000"/>
            <a:ext cx="34290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8" id="48"/>
          <p:cNvSpPr/>
          <p:nvPr/>
        </p:nvSpPr>
        <p:spPr>
          <a:xfrm rot="0" flipH="false" flipV="false">
            <a:off x="8128000" y="3429000"/>
            <a:ext cx="76200" cy="13335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9" id="49"/>
          <p:cNvPicPr>
            <a:picLocks noChangeAspect="true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 rot="0" flipH="false" flipV="false">
            <a:off x="8382000" y="3619500"/>
            <a:ext cx="304800" cy="304800"/>
          </a:xfrm>
          <a:prstGeom prst="rect">
            <a:avLst/>
          </a:prstGeom>
        </p:spPr>
      </p:pic>
      <p:sp>
        <p:nvSpPr>
          <p:cNvPr name="AutoShape 50" id="50"/>
          <p:cNvSpPr/>
          <p:nvPr/>
        </p:nvSpPr>
        <p:spPr>
          <a:xfrm rot="0" flipH="false" flipV="false">
            <a:off x="8826500" y="3581400"/>
            <a:ext cx="254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08. Web前端界面（Vue3）</a:t>
            </a:r>
            <a:endParaRPr lang="en-US" sz="1100"/>
          </a:p>
        </p:txBody>
      </p:sp>
      <p:cxnSp>
        <p:nvCxnSpPr>
          <p:cNvPr name="Connector 51" id="51"/>
          <p:cNvCxnSpPr/>
          <p:nvPr/>
        </p:nvCxnSpPr>
        <p:spPr>
          <a:xfrm rot="-14946" flipH="false" flipV="false">
            <a:off x="8382014" y="4184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374151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52" id="52"/>
          <p:cNvSpPr/>
          <p:nvPr/>
        </p:nvSpPr>
        <p:spPr>
          <a:xfrm rot="0" flipH="false" flipV="false">
            <a:off x="8382000" y="4318000"/>
            <a:ext cx="2921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状态：</a:t>
            </a:r>
            <a:r>
              <a:rPr lang="en-US" b="true" i="false" strike="noStrike" u="none" sz="13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已完成 · 构建交互友好的可视化页面</a:t>
            </a:r>
            <a:endParaRPr lang="en-US" sz="1100"/>
          </a:p>
        </p:txBody>
      </p:sp>
      <p:sp>
        <p:nvSpPr>
          <p:cNvPr name="AutoShape 53" id="53"/>
          <p:cNvSpPr/>
          <p:nvPr/>
        </p:nvSpPr>
        <p:spPr>
          <a:xfrm rot="0" flipH="false" flipV="false">
            <a:off x="8128000" y="5080000"/>
            <a:ext cx="34290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4" id="54"/>
          <p:cNvSpPr/>
          <p:nvPr/>
        </p:nvSpPr>
        <p:spPr>
          <a:xfrm rot="0" flipH="false" flipV="false">
            <a:off x="8128000" y="5080000"/>
            <a:ext cx="76200" cy="13335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5" id="55"/>
          <p:cNvPicPr>
            <a:picLocks noChangeAspect="true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 rot="0" flipH="false" flipV="false">
            <a:off x="8382000" y="5270500"/>
            <a:ext cx="304800" cy="304800"/>
          </a:xfrm>
          <a:prstGeom prst="rect">
            <a:avLst/>
          </a:prstGeom>
        </p:spPr>
      </p:pic>
      <p:sp>
        <p:nvSpPr>
          <p:cNvPr name="AutoShape 56" id="56"/>
          <p:cNvSpPr/>
          <p:nvPr/>
        </p:nvSpPr>
        <p:spPr>
          <a:xfrm rot="0" flipH="false" flipV="false">
            <a:off x="8826500" y="5232400"/>
            <a:ext cx="254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09. Docker容器化部署包</a:t>
            </a:r>
            <a:endParaRPr lang="en-US" sz="1100"/>
          </a:p>
        </p:txBody>
      </p:sp>
      <p:cxnSp>
        <p:nvCxnSpPr>
          <p:cNvPr name="Connector 57" id="57"/>
          <p:cNvCxnSpPr/>
          <p:nvPr/>
        </p:nvCxnSpPr>
        <p:spPr>
          <a:xfrm rot="-14946" flipH="false" flipV="false">
            <a:off x="8382014" y="5835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374151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58" id="58"/>
          <p:cNvSpPr/>
          <p:nvPr/>
        </p:nvSpPr>
        <p:spPr>
          <a:xfrm rot="0" flipH="false" flipV="false">
            <a:off x="8382000" y="5943600"/>
            <a:ext cx="2921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状态：</a:t>
            </a:r>
            <a:r>
              <a:rPr lang="en-US" b="true" i="false" strike="noStrike" u="none" sz="13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已完成 · 实现环境隔离与一键式部署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4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16000" y="2540000"/>
            <a:ext cx="10160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4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3810000"/>
            <a:ext cx="10160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4318000"/>
            <a:ext cx="1016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项目管理过程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53340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HOW WE DID IT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项目规划：WBS与时间表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524000"/>
            <a:ext cx="558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采用工作分解结构（WBS）将项目拆解为7个核心阶段与30余个工作包，确保任务颗粒度合理、责任边界清晰，为执行与监控提供坚实框架。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2667000"/>
            <a:ext cx="2730500" cy="2286000"/>
          </a:xfrm>
          <a:prstGeom prst="roundRect">
            <a:avLst>
              <a:gd name="adj" fmla="val 0"/>
            </a:avLst>
          </a:prstGeom>
          <a:solidFill>
            <a:srgbClr val="10B981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2667000"/>
            <a:ext cx="50800" cy="22860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914400" y="2794000"/>
            <a:ext cx="2476500" cy="203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WP1 需求调研与分析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深度挖掘业务场景，明确功能边界与验收标准，确立项目基石。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14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WP2-4 核心开发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涵盖数据集构建、模型训练优化及图像预处理模块开发，夯实算法核心能力。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3619500" y="2667000"/>
            <a:ext cx="2730500" cy="2286000"/>
          </a:xfrm>
          <a:prstGeom prst="roundRect">
            <a:avLst>
              <a:gd name="adj" fmla="val 0"/>
            </a:avLst>
          </a:prstGeom>
          <a:solidFill>
            <a:srgbClr val="10B981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3619500" y="2667000"/>
            <a:ext cx="50800" cy="22860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3771900" y="2794000"/>
            <a:ext cx="2476500" cy="203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WP5-6 工程实现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完成后端API接口开发与前端交互界面设计，打通数据链路与用户交互通道。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14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WP7 测试与部署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执行全链路系统测试，完成生产环境部署，确保系统稳定交付与验收。</a:t>
            </a:r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762000" y="5334000"/>
            <a:ext cx="5588000" cy="1016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889000" y="5524500"/>
            <a:ext cx="304800" cy="3048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1333500" y="5461000"/>
            <a:ext cx="482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全周期管控：12周里程碑计划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项目周期锁定2026.03.16-06.07，设立关键里程碑节点，通过周度复盘与风险预警机制，确保项目按时保质交付。</a:t>
            </a:r>
            <a:endParaRPr lang="en-US" sz="1100"/>
          </a:p>
        </p:txBody>
      </p:sp>
      <p:cxnSp>
        <p:nvCxnSpPr>
          <p:cNvPr name="Connector 14" id="14"/>
          <p:cNvCxnSpPr/>
          <p:nvPr/>
        </p:nvCxnSpPr>
        <p:spPr>
          <a:xfrm rot="5390450" flipH="false" flipV="false">
            <a:off x="4318000" y="4057659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10B981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name="Picture 15" id="15"/>
          <p:cNvPicPr>
            <a:picLocks noChangeAspect="true"/>
          </p:cNvPicPr>
          <p:nvPr/>
        </p:nvPicPr>
        <p:blipFill>
          <a:blip r:embed="rId5"/>
          <a:srcRect l="7149" r="7149" t="0" b="0"/>
          <a:stretch>
            <a:fillRect/>
          </a:stretch>
        </p:blipFill>
        <p:spPr>
          <a:xfrm rot="0" flipH="false" flipV="false">
            <a:off x="6858000" y="1778000"/>
            <a:ext cx="4572000" cy="2794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6" id="16"/>
          <p:cNvSpPr/>
          <p:nvPr/>
        </p:nvSpPr>
        <p:spPr>
          <a:xfrm rot="0" flipH="false" flipV="false">
            <a:off x="6858000" y="5080000"/>
            <a:ext cx="4572000" cy="1270000"/>
          </a:xfrm>
          <a:prstGeom prst="roundRect">
            <a:avLst>
              <a:gd name="adj" fmla="val 0"/>
            </a:avLst>
          </a:prstGeom>
          <a:solidFill>
            <a:srgbClr val="10B981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985000" y="5207000"/>
            <a:ext cx="4318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4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可视化甘特图动态调度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图示为项目核心任务的时间排期与依赖关系。通过甘特图直观呈现并行任务与关键路径，实现资源的最优配置，并支持进度的实时追踪与动态调整。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过程监控与控制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778000"/>
            <a:ext cx="34290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mpd="sng" cap="flat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2032000"/>
            <a:ext cx="406400" cy="4064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549400" y="2032000"/>
            <a:ext cx="2413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进度监控机制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-14946" flipH="false" flipV="false">
            <a:off x="1016014" y="2660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10B981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8" id="8"/>
          <p:cNvSpPr/>
          <p:nvPr/>
        </p:nvSpPr>
        <p:spPr>
          <a:xfrm rot="0" flipH="false" flipV="false">
            <a:off x="1016000" y="2921000"/>
            <a:ext cx="2921000" cy="190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4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轻量级敏捷管理：</a:t>
            </a: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采用每周例会同步进度，结合Git提交日志分析，实时评估开发节点的完成情况，确保信息透明同步。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true" i="false" strike="noStrike" u="none" sz="14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里程碑阶段验收：</a:t>
            </a: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在每个关键阶段结束时执行严格的自检流程，核对交付物清单，确保输出质量符合预设标准后再推进下一阶段。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381500" y="1778000"/>
            <a:ext cx="34290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mpd="sng" cap="flat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4635500" y="2032000"/>
            <a:ext cx="406400" cy="4064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5168900" y="2032000"/>
            <a:ext cx="2413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核心质量指标 (KPI)</a:t>
            </a:r>
            <a:endParaRPr lang="en-US" sz="1100"/>
          </a:p>
        </p:txBody>
      </p:sp>
      <p:cxnSp>
        <p:nvCxnSpPr>
          <p:cNvPr name="Connector 12" id="12"/>
          <p:cNvCxnSpPr/>
          <p:nvPr/>
        </p:nvCxnSpPr>
        <p:spPr>
          <a:xfrm rot="-14946" flipH="false" flipV="false">
            <a:off x="4635514" y="2660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10B981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3" id="13"/>
          <p:cNvSpPr/>
          <p:nvPr/>
        </p:nvSpPr>
        <p:spPr>
          <a:xfrm rot="0" flipH="false" flipV="false">
            <a:off x="4635500" y="2921000"/>
            <a:ext cx="1397000" cy="952500"/>
          </a:xfrm>
          <a:prstGeom prst="roundRect">
            <a:avLst>
              <a:gd name="adj" fmla="val 0"/>
            </a:avLst>
          </a:prstGeom>
          <a:solidFill>
            <a:srgbClr val="10B981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4699000" y="2984500"/>
            <a:ext cx="12700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污渍检测准确率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22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≥70%</a:t>
            </a:r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159500" y="2921000"/>
            <a:ext cx="1397000" cy="952500"/>
          </a:xfrm>
          <a:prstGeom prst="roundRect">
            <a:avLst>
              <a:gd name="adj" fmla="val 0"/>
            </a:avLst>
          </a:prstGeom>
          <a:solidFill>
            <a:srgbClr val="10B981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223000" y="2984500"/>
            <a:ext cx="12700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单次检测响应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22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~15s</a:t>
            </a:r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4635500" y="4064000"/>
            <a:ext cx="1397000" cy="952500"/>
          </a:xfrm>
          <a:prstGeom prst="roundRect">
            <a:avLst>
              <a:gd name="adj" fmla="val 0"/>
            </a:avLst>
          </a:prstGeom>
          <a:solidFill>
            <a:srgbClr val="10B981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4699000" y="4127500"/>
            <a:ext cx="12700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历史查询响应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22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~2s</a:t>
            </a:r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159500" y="4064000"/>
            <a:ext cx="1397000" cy="952500"/>
          </a:xfrm>
          <a:prstGeom prst="roundRect">
            <a:avLst>
              <a:gd name="adj" fmla="val 0"/>
            </a:avLst>
          </a:prstGeom>
          <a:solidFill>
            <a:srgbClr val="10B981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6223000" y="4127500"/>
            <a:ext cx="12700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系统可用性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22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≥99%</a:t>
            </a:r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8001000" y="1778000"/>
            <a:ext cx="34290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mpd="sng" cap="flat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2" id="22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8255000" y="2032000"/>
            <a:ext cx="406400" cy="406400"/>
          </a:xfrm>
          <a:prstGeom prst="rect">
            <a:avLst/>
          </a:prstGeom>
        </p:spPr>
      </p:pic>
      <p:sp>
        <p:nvSpPr>
          <p:cNvPr name="AutoShape 23" id="23"/>
          <p:cNvSpPr/>
          <p:nvPr/>
        </p:nvSpPr>
        <p:spPr>
          <a:xfrm rot="0" flipH="false" flipV="false">
            <a:off x="8788400" y="2032000"/>
            <a:ext cx="2413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变更控制管理</a:t>
            </a:r>
            <a:endParaRPr lang="en-US" sz="1100"/>
          </a:p>
        </p:txBody>
      </p:sp>
      <p:cxnSp>
        <p:nvCxnSpPr>
          <p:cNvPr name="Connector 24" id="24"/>
          <p:cNvCxnSpPr/>
          <p:nvPr/>
        </p:nvCxnSpPr>
        <p:spPr>
          <a:xfrm rot="-14946" flipH="false" flipV="false">
            <a:off x="8255014" y="2660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10B981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5" id="25"/>
          <p:cNvSpPr/>
          <p:nvPr/>
        </p:nvSpPr>
        <p:spPr>
          <a:xfrm rot="0" flipH="false" flipV="false">
            <a:off x="8255000" y="2921000"/>
            <a:ext cx="2921000" cy="190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4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灵活应对关键变更：</a:t>
            </a: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项目周期内共梳理并管理了3项重要需求与目标变更。其中最关键的调整是将初期设定的95%准确率目标，基于实测数据科学下调至70%，极大降低了开发风险与周期成本。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通过规范的变更审批流程，确保所有调整均有迹可循，保障了项目按计划顺利交付。</a:t>
            </a:r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762000" y="5588000"/>
            <a:ext cx="10668000" cy="762000"/>
          </a:xfrm>
          <a:prstGeom prst="roundRect">
            <a:avLst>
              <a:gd name="adj" fmla="val 0"/>
            </a:avLst>
          </a:prstGeom>
          <a:solidFill>
            <a:srgbClr val="10B981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1016000" y="57150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总结：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通过系统化的进度跟踪、量化的质量指标监控和严谨的变更控制流程，实现了项目全生命周期的可控性，确保最终交付成果符合预期。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风险管理：以模型精度不足为例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905000"/>
            <a:ext cx="34290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2159000"/>
            <a:ext cx="406400" cy="4064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549400" y="2159000"/>
            <a:ext cx="2413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核心风险识别 (R01)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-14946" flipH="false" flipV="false">
            <a:off x="1016014" y="2787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8" id="8"/>
          <p:cNvSpPr/>
          <p:nvPr/>
        </p:nvSpPr>
        <p:spPr>
          <a:xfrm rot="0" flipH="false" flipV="false">
            <a:off x="1016000" y="3048000"/>
            <a:ext cx="2921000" cy="190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在第一轮模型训练中，我们发现模型收敛精度仅为</a:t>
            </a:r>
            <a:r>
              <a:rPr lang="en-US" b="true" i="false" strike="noStrike" u="none" sz="1400">
                <a:solidFill>
                  <a:srgbClr val="EF4444"/>
                </a:solidFill>
                <a:latin typeface="Noto Sans SC"/>
                <a:ea typeface="Noto Sans SC"/>
                <a:cs typeface="Noto Sans SC"/>
                <a:sym typeface="Noto Sans SC"/>
              </a:rPr>
              <a:t>62%</a:t>
            </a: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，远未达到项目预设的 70% 基线目标，成为项目推进的核心阻碍。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445000" y="1905000"/>
            <a:ext cx="34290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4699000" y="2159000"/>
            <a:ext cx="406400" cy="4064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5232400" y="2159000"/>
            <a:ext cx="2413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多维应对策略实施</a:t>
            </a:r>
            <a:endParaRPr lang="en-US" sz="1100"/>
          </a:p>
        </p:txBody>
      </p:sp>
      <p:cxnSp>
        <p:nvCxnSpPr>
          <p:cNvPr name="Connector 12" id="12"/>
          <p:cNvCxnSpPr/>
          <p:nvPr/>
        </p:nvCxnSpPr>
        <p:spPr>
          <a:xfrm rot="-14946" flipH="false" flipV="false">
            <a:off x="4699014" y="2787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3" id="13"/>
          <p:cNvSpPr/>
          <p:nvPr/>
        </p:nvSpPr>
        <p:spPr>
          <a:xfrm rot="0" flipH="false" flipV="false">
            <a:off x="4699000" y="2984500"/>
            <a:ext cx="2921000" cy="228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4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01. 扩充数据集：</a:t>
            </a: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样本量从300张增至800张，夯实数据基础。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true" i="false" strike="noStrike" u="none" sz="14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02. 调优超参数：</a:t>
            </a: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迭代学习率与批量大小，平衡收敛速度与效果。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16666"/>
              </a:lnSpc>
            </a:pPr>
            <a:r>
              <a:rPr lang="en-US" b="true" i="false" strike="noStrike" u="none" sz="14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03. 增强泛化性：</a:t>
            </a: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引入多样图像变换，提升模型对复杂场景的适应力。</a:t>
            </a:r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8128000" y="1905000"/>
            <a:ext cx="34290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8382000" y="2159000"/>
            <a:ext cx="406400" cy="4064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8915400" y="2159000"/>
            <a:ext cx="2413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关键指标显著突破</a:t>
            </a:r>
            <a:endParaRPr lang="en-US" sz="1100"/>
          </a:p>
        </p:txBody>
      </p:sp>
      <p:cxnSp>
        <p:nvCxnSpPr>
          <p:cNvPr name="Connector 17" id="17"/>
          <p:cNvCxnSpPr/>
          <p:nvPr/>
        </p:nvCxnSpPr>
        <p:spPr>
          <a:xfrm rot="-14946" flipH="false" flipV="false">
            <a:off x="8382014" y="2787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8" id="18"/>
          <p:cNvSpPr/>
          <p:nvPr/>
        </p:nvSpPr>
        <p:spPr>
          <a:xfrm rot="0" flipH="false" flipV="false">
            <a:off x="8382000" y="3048000"/>
            <a:ext cx="2921000" cy="190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经过针对性优化，第二轮训练精度大幅提升至</a:t>
            </a:r>
            <a:r>
              <a:rPr lang="en-US" b="true" i="false" strike="noStrike" u="none" sz="28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74%</a:t>
            </a: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，成功突破 70% 的基线阈值，有效化解了模型精度不足的核心风险，为项目后续落地奠定了坚实基础。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762000" y="5842000"/>
            <a:ext cx="10795000" cy="635000"/>
          </a:xfrm>
          <a:prstGeom prst="roundRect">
            <a:avLst>
              <a:gd name="adj" fmla="val 0"/>
            </a:avLst>
          </a:prstGeom>
          <a:solidFill>
            <a:srgbClr val="10B981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762000" y="5842000"/>
            <a:ext cx="76200" cy="6350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1016000" y="5943600"/>
            <a:ext cx="102870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经验总结：通过数据、参数、策略的系统性组合优化，成功将技术风险转化为项目可控点，验证了风险预案的有效性。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4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16000" y="1016000"/>
            <a:ext cx="5080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96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2540000"/>
            <a:ext cx="1016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4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经济分析与商业价值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3810000"/>
            <a:ext cx="10160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43180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WHAT'S THE VALUE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5334000"/>
            <a:ext cx="10160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深度解析成本结构、市场定价策略与全周期财务预测，通过严谨的数据分析，论证项目的商业可行性，挖掘可持续的长期投资回报与社会价值。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软件规模与成本估算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651000"/>
            <a:ext cx="5207000" cy="304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mpd="sng" cap="flat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651000"/>
            <a:ext cx="76200" cy="30480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92200" y="1879600"/>
            <a:ext cx="355600" cy="3556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574800" y="1841500"/>
            <a:ext cx="4064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软件规模估算 (功能点分析)</a:t>
            </a:r>
            <a:endParaRPr lang="en-US" sz="1100"/>
          </a:p>
        </p:txBody>
      </p:sp>
      <p:cxnSp>
        <p:nvCxnSpPr>
          <p:cNvPr name="Connector 8" id="8"/>
          <p:cNvCxnSpPr/>
          <p:nvPr/>
        </p:nvCxnSpPr>
        <p:spPr>
          <a:xfrm rot="-9444" flipH="false" flipV="false">
            <a:off x="1092209" y="2470150"/>
            <a:ext cx="462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374151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9" id="9"/>
          <p:cNvSpPr/>
          <p:nvPr/>
        </p:nvSpPr>
        <p:spPr>
          <a:xfrm rot="0" flipH="false" flipV="false">
            <a:off x="1092200" y="2667000"/>
            <a:ext cx="457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采用 IFPUG 与 NESMA 两种国际标准方法进行交叉验证，消除单一模型偏差，确保功能点统计的客观性与准确性。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092200" y="3810000"/>
            <a:ext cx="4572000" cy="762000"/>
          </a:xfrm>
          <a:prstGeom prst="roundRect">
            <a:avLst>
              <a:gd name="adj" fmla="val 0"/>
            </a:avLst>
          </a:prstGeom>
          <a:solidFill>
            <a:srgbClr val="10B981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219200" y="3911600"/>
            <a:ext cx="4318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调整后功能点 (AFP) 最终结果：</a:t>
            </a:r>
            <a:r>
              <a:rPr lang="en-US" b="true" i="false" strike="noStrike" u="none" sz="22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21 FP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223000" y="1651000"/>
            <a:ext cx="5207000" cy="304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mpd="sng" cap="flat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223000" y="1651000"/>
            <a:ext cx="76200" cy="30480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6553200" y="1879600"/>
            <a:ext cx="355600" cy="3556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7035800" y="1841500"/>
            <a:ext cx="4064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软件开发成本估算</a:t>
            </a:r>
            <a:endParaRPr lang="en-US" sz="1100"/>
          </a:p>
        </p:txBody>
      </p:sp>
      <p:cxnSp>
        <p:nvCxnSpPr>
          <p:cNvPr name="Connector 16" id="16"/>
          <p:cNvCxnSpPr/>
          <p:nvPr/>
        </p:nvCxnSpPr>
        <p:spPr>
          <a:xfrm rot="-9444" flipH="false" flipV="false">
            <a:off x="6553209" y="2470150"/>
            <a:ext cx="462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374151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7" id="17"/>
          <p:cNvSpPr/>
          <p:nvPr/>
        </p:nvSpPr>
        <p:spPr>
          <a:xfrm rot="0" flipH="false" flipV="false">
            <a:off x="6553200" y="2603500"/>
            <a:ext cx="4572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基于 GB/T 36964 国家标准与 COCOMO II 模型交叉验证，结合 CSBMK®-202510 行业基准，生产率取值为 6.72 人时/FP。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6553200" y="3556000"/>
            <a:ext cx="2222500" cy="1016000"/>
          </a:xfrm>
          <a:prstGeom prst="roundRect">
            <a:avLst>
              <a:gd name="adj" fmla="val 0"/>
            </a:avLst>
          </a:prstGeom>
          <a:solidFill>
            <a:srgbClr val="F3F4F6">
              <a:alpha val="8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680200" y="3657600"/>
            <a:ext cx="1968500" cy="812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GB/T 36964 估算值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18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¥ 24,546</a:t>
            </a:r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8902700" y="3556000"/>
            <a:ext cx="2222500" cy="1016000"/>
          </a:xfrm>
          <a:prstGeom prst="roundRect">
            <a:avLst>
              <a:gd name="adj" fmla="val 0"/>
            </a:avLst>
          </a:prstGeom>
          <a:solidFill>
            <a:srgbClr val="F3F4F6">
              <a:alpha val="8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9029700" y="3657600"/>
            <a:ext cx="1968500" cy="812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COCOMO II 估算值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18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¥ 27,082</a:t>
            </a:r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762000" y="5080000"/>
            <a:ext cx="10668000" cy="1143000"/>
          </a:xfrm>
          <a:prstGeom prst="roundRect">
            <a:avLst>
              <a:gd name="adj" fmla="val 0"/>
            </a:avLst>
          </a:prstGeom>
          <a:solidFill>
            <a:srgbClr val="10B981">
              <a:alpha val="1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3" id="23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016000" y="5372100"/>
            <a:ext cx="558800" cy="558800"/>
          </a:xfrm>
          <a:prstGeom prst="rect">
            <a:avLst/>
          </a:prstGeom>
        </p:spPr>
      </p:pic>
      <p:cxnSp>
        <p:nvCxnSpPr>
          <p:cNvPr name="Connector 24" id="24"/>
          <p:cNvCxnSpPr/>
          <p:nvPr/>
        </p:nvCxnSpPr>
        <p:spPr>
          <a:xfrm rot="5342709" flipH="false" flipV="false">
            <a:off x="1524000" y="5645203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10B981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5" id="25"/>
          <p:cNvSpPr/>
          <p:nvPr/>
        </p:nvSpPr>
        <p:spPr>
          <a:xfrm rot="0" flipH="false" flipV="false">
            <a:off x="2159000" y="5232400"/>
            <a:ext cx="9017000" cy="838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5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两种方法估算结果差异率仅为 10.4%，在行业可信区间内。综合考量后，项目开发总成本（不含人力）最终核定为</a:t>
            </a:r>
            <a:r>
              <a:rPr lang="en-US" b="true" i="false" strike="noStrike" u="none" sz="20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2.5 万元</a:t>
            </a:r>
            <a:r>
              <a:rPr lang="en-US" b="false" i="false" strike="noStrike" u="none" sz="15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，数据支撑充分，预算可控性高。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商业定价策略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651000"/>
            <a:ext cx="58420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651000"/>
            <a:ext cx="76200" cy="14605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1752600"/>
            <a:ext cx="533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01. 成本加成定价 (一次性买断)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-8185" flipH="false" flipV="false">
            <a:off x="1016008" y="2216150"/>
            <a:ext cx="533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374151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8" id="8"/>
          <p:cNvSpPr/>
          <p:nvPr/>
        </p:nvSpPr>
        <p:spPr>
          <a:xfrm rot="0" flipH="false" flipV="false">
            <a:off x="1016000" y="2349500"/>
            <a:ext cx="5334000" cy="698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报价约</a:t>
            </a:r>
            <a:r>
              <a:rPr lang="en-US" b="tru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49,330 元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，主要面向对价格敏感、倾向于一次性投入的中小型客户，无需后续持续付费，拥有完整软件使用权。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762000" y="3429000"/>
            <a:ext cx="58420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762000" y="3429000"/>
            <a:ext cx="76200" cy="14605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016000" y="3530600"/>
            <a:ext cx="533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02. SaaS订阅定价 (按需付费，灵活扩容)</a:t>
            </a:r>
            <a:endParaRPr lang="en-US" sz="1100"/>
          </a:p>
        </p:txBody>
      </p:sp>
      <p:cxnSp>
        <p:nvCxnSpPr>
          <p:cNvPr name="Connector 12" id="12"/>
          <p:cNvCxnSpPr/>
          <p:nvPr/>
        </p:nvCxnSpPr>
        <p:spPr>
          <a:xfrm rot="-8185" flipH="false" flipV="false">
            <a:off x="1016008" y="3994150"/>
            <a:ext cx="533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374151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3" id="13"/>
          <p:cNvSpPr/>
          <p:nvPr/>
        </p:nvSpPr>
        <p:spPr>
          <a:xfrm rot="0" flipH="false" flipV="false">
            <a:off x="1016000" y="4127500"/>
            <a:ext cx="5334000" cy="698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基础版</a:t>
            </a:r>
            <a:r>
              <a:rPr lang="en-US" b="tru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299元/月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(5用户/500次)，专业版</a:t>
            </a:r>
            <a:r>
              <a:rPr lang="en-US" b="tru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799元/月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(20用户/不限次)，企业版支持私有化部署与定制化报价，适配不同业务规模需求。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762000" y="5143500"/>
            <a:ext cx="58420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762000" y="5143500"/>
            <a:ext cx="76200" cy="13970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1016000" y="5245100"/>
            <a:ext cx="533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03. 基于价值的定价 (收益导向)</a:t>
            </a:r>
            <a:endParaRPr lang="en-US" sz="1100"/>
          </a:p>
        </p:txBody>
      </p:sp>
      <p:cxnSp>
        <p:nvCxnSpPr>
          <p:cNvPr name="Connector 17" id="17"/>
          <p:cNvCxnSpPr/>
          <p:nvPr/>
        </p:nvCxnSpPr>
        <p:spPr>
          <a:xfrm rot="-8185" flipH="false" flipV="false">
            <a:off x="1016008" y="5683250"/>
            <a:ext cx="533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374151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8" id="18"/>
          <p:cNvSpPr/>
          <p:nvPr/>
        </p:nvSpPr>
        <p:spPr>
          <a:xfrm rot="0" flipH="false" flipV="false">
            <a:off x="1016000" y="5791200"/>
            <a:ext cx="53340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测算显示系统月省成本约</a:t>
            </a:r>
            <a:r>
              <a:rPr lang="en-US" b="tru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12,000元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，按“客户价值5%”原则，定价600元区间合理，与专业版799元定价高度契合，实现价值共赢。</a:t>
            </a:r>
            <a:endParaRPr lang="en-US" sz="1100"/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3"/>
          <a:srcRect l="0" r="0" t="96" b="96"/>
          <a:stretch>
            <a:fillRect/>
          </a:stretch>
        </p:blipFill>
        <p:spPr>
          <a:xfrm rot="0" flipH="false" flipV="false">
            <a:off x="6985000" y="2032000"/>
            <a:ext cx="4445000" cy="29591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20" id="20"/>
          <p:cNvSpPr/>
          <p:nvPr/>
        </p:nvSpPr>
        <p:spPr>
          <a:xfrm rot="0" flipH="false" flipV="false">
            <a:off x="6985000" y="5270500"/>
            <a:ext cx="4445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直观的SaaS订阅界面设计，清晰展示不同版本权益，帮助客户快速匹配需求。灵活的付费模式降低了准入门槛，同时通过分级功能满足成长型企业的进阶需求。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财务评估与预测 (5年)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651000"/>
            <a:ext cx="3429000" cy="1270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651000"/>
            <a:ext cx="76200" cy="12700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1778000"/>
            <a:ext cx="304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投资回收期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2222500"/>
            <a:ext cx="304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约 18 个月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4381500" y="1651000"/>
            <a:ext cx="3429000" cy="1270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381500" y="1651000"/>
            <a:ext cx="76200" cy="12700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4635500" y="1778000"/>
            <a:ext cx="304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净现值 (NPV) - 折现率10%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635500" y="2222500"/>
            <a:ext cx="304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约 +52 万元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8001000" y="1651000"/>
            <a:ext cx="3429000" cy="1270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8001000" y="1651000"/>
            <a:ext cx="76200" cy="12700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8255000" y="1778000"/>
            <a:ext cx="304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内部收益率 (IRR)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255000" y="2222500"/>
            <a:ext cx="304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约 65%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762000" y="3302000"/>
            <a:ext cx="5334000" cy="1143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762000" y="3302000"/>
            <a:ext cx="76200" cy="11430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1016000" y="3429000"/>
            <a:ext cx="4826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盈亏平衡点 (订阅用户数)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1016000" y="3873500"/>
            <a:ext cx="4826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约 12 个用户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6477000" y="3302000"/>
            <a:ext cx="5334000" cy="1143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6477000" y="3302000"/>
            <a:ext cx="76200" cy="11430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6731000" y="3429000"/>
            <a:ext cx="4826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5年投资回报率 (ROI)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6731000" y="3873500"/>
            <a:ext cx="4826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约 1,779%</a:t>
            </a:r>
            <a:endParaRPr lang="en-US" sz="1100"/>
          </a:p>
        </p:txBody>
      </p:sp>
      <p:cxnSp>
        <p:nvCxnSpPr>
          <p:cNvPr name="Connector 24" id="24"/>
          <p:cNvCxnSpPr/>
          <p:nvPr/>
        </p:nvCxnSpPr>
        <p:spPr>
          <a:xfrm rot="-4092" flipH="false" flipV="false">
            <a:off x="762004" y="4819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374151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name="Table 25" id="25"/>
          <p:cNvGraphicFramePr>
            <a:graphicFrameLocks noGrp="true"/>
          </p:cNvGraphicFramePr>
          <p:nvPr/>
        </p:nvGraphicFramePr>
        <p:xfrm>
          <a:off x="762000" y="5080000"/>
          <a:ext cx="11404600" cy="15875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667000"/>
                <a:gridCol w="2184400"/>
                <a:gridCol w="2184400"/>
                <a:gridCol w="2184400"/>
                <a:gridCol w="2184400"/>
              </a:tblGrid>
              <a:tr h="6985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400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关键财务指标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25400">
                      <a:solidFill>
                        <a:srgbClr val="10B9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>
                        <a:alpha val="15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400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第1年 (2026)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25400">
                      <a:solidFill>
                        <a:srgbClr val="10B9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>
                        <a:alpha val="15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400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第2年 (2027)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25400">
                      <a:solidFill>
                        <a:srgbClr val="10B9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>
                        <a:alpha val="15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400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第3年 (2028)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25400">
                      <a:solidFill>
                        <a:srgbClr val="10B9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>
                        <a:alpha val="15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400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第5年 (2030)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25400">
                      <a:solidFill>
                        <a:srgbClr val="10B9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>
                        <a:alpha val="15000"/>
                      </a:srgbClr>
                    </a:solidFill>
                  </a:tcPr>
                </a:tc>
              </a:tr>
              <a:tr h="8890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4B556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客户数 (家) / 年收入 (万元) / 净利润 (万元)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25400">
                      <a:solidFill>
                        <a:srgbClr val="10B9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8333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4B556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5 家</a:t>
                      </a:r>
                      <a:r>
                        <a:rPr lang="en-US" b="false" i="false" strike="noStrike" u="none" sz="1300">
                          <a:solidFill>
                            <a:srgbClr val="4B556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/>
                      </a:r>
                      <a:br>
                        <a:rPr lang="en-US" b="false" i="false" strike="noStrike" u="none" sz="1300">
                          <a:solidFill>
                            <a:srgbClr val="4B556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</a:br>
                      <a:r>
                        <a:rPr lang="en-US" b="false" i="false" strike="noStrike" u="none" sz="1300">
                          <a:solidFill>
                            <a:srgbClr val="4B556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4.2 / -1.8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25400">
                      <a:solidFill>
                        <a:srgbClr val="10B9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8333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4B556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15 家</a:t>
                      </a:r>
                      <a:r>
                        <a:rPr lang="en-US" b="false" i="false" strike="noStrike" u="none" sz="1300">
                          <a:solidFill>
                            <a:srgbClr val="4B556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/>
                      </a:r>
                      <a:br>
                        <a:rPr lang="en-US" b="false" i="false" strike="noStrike" u="none" sz="1300">
                          <a:solidFill>
                            <a:srgbClr val="4B556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</a:br>
                      <a:r>
                        <a:rPr lang="en-US" b="false" i="false" strike="noStrike" u="none" sz="1300">
                          <a:solidFill>
                            <a:srgbClr val="4B556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12.6 / 4.6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25400">
                      <a:solidFill>
                        <a:srgbClr val="10B9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8333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4B556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40 家</a:t>
                      </a:r>
                      <a:r>
                        <a:rPr lang="en-US" b="false" i="false" strike="noStrike" u="none" sz="1300">
                          <a:solidFill>
                            <a:srgbClr val="4B556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/>
                      </a:r>
                      <a:br>
                        <a:rPr lang="en-US" b="false" i="false" strike="noStrike" u="none" sz="1300">
                          <a:solidFill>
                            <a:srgbClr val="4B556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</a:br>
                      <a:r>
                        <a:rPr lang="en-US" b="false" i="false" strike="noStrike" u="none" sz="1300">
                          <a:solidFill>
                            <a:srgbClr val="4B556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33.6 / 19.6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25400">
                      <a:solidFill>
                        <a:srgbClr val="10B9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8333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4B556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125 家</a:t>
                      </a:r>
                      <a:r>
                        <a:rPr lang="en-US" b="false" i="false" strike="noStrike" u="none" sz="1300">
                          <a:solidFill>
                            <a:srgbClr val="4B556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/>
                      </a:r>
                      <a:br>
                        <a:rPr lang="en-US" b="false" i="false" strike="noStrike" u="none" sz="1300">
                          <a:solidFill>
                            <a:srgbClr val="4B556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</a:br>
                      <a:r>
                        <a:rPr lang="en-US" b="false" i="false" strike="noStrike" u="none" sz="1300">
                          <a:solidFill>
                            <a:srgbClr val="4B556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105.0 / 70.0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25400">
                      <a:solidFill>
                        <a:srgbClr val="10B9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4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16000" y="1016000"/>
            <a:ext cx="5080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05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2540000"/>
            <a:ext cx="1016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4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结论与未来展望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3937000"/>
            <a:ext cx="10160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44450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CONCLUSION &amp; OUTLOOK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5461000"/>
            <a:ext cx="990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回顾项目成果，沉淀核心价值，以终为始探索创新边界，在技术迭代与业务融合中擘画可持续发展的全新蓝图。</a:t>
            </a:r>
            <a:endParaRPr lang="en-US" sz="1100"/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项目结论与经验教训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778000"/>
            <a:ext cx="52070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778000"/>
            <a:ext cx="76200" cy="13335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1930400"/>
            <a:ext cx="355600" cy="3556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524000" y="1879600"/>
            <a:ext cx="4191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技术可行性验证通过</a:t>
            </a:r>
            <a:endParaRPr lang="en-US" sz="1100"/>
          </a:p>
        </p:txBody>
      </p:sp>
      <p:cxnSp>
        <p:nvCxnSpPr>
          <p:cNvPr name="Connector 8" id="8"/>
          <p:cNvCxnSpPr/>
          <p:nvPr/>
        </p:nvCxnSpPr>
        <p:spPr>
          <a:xfrm rot="-9291" flipH="false" flipV="false">
            <a:off x="1016009" y="2406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374151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9" id="9"/>
          <p:cNvSpPr/>
          <p:nvPr/>
        </p:nvSpPr>
        <p:spPr>
          <a:xfrm rot="0" flipH="false" flipV="false">
            <a:off x="1016000" y="2540000"/>
            <a:ext cx="4699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成功构建基于YOLO的自动化检测系统，各项关键性能指标均达到预设标准，算法鲁棒性与检测精度满足实际应用需求。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762000" y="3429000"/>
            <a:ext cx="52070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762000" y="3429000"/>
            <a:ext cx="76200" cy="13335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016000" y="3581400"/>
            <a:ext cx="355600" cy="3556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1524000" y="3530600"/>
            <a:ext cx="4191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经济模型具备高回报潜力</a:t>
            </a:r>
            <a:endParaRPr lang="en-US" sz="1100"/>
          </a:p>
        </p:txBody>
      </p:sp>
      <p:cxnSp>
        <p:nvCxnSpPr>
          <p:cNvPr name="Connector 14" id="14"/>
          <p:cNvCxnSpPr/>
          <p:nvPr/>
        </p:nvCxnSpPr>
        <p:spPr>
          <a:xfrm rot="-9291" flipH="false" flipV="false">
            <a:off x="1016009" y="4057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374151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5" id="15"/>
          <p:cNvSpPr/>
          <p:nvPr/>
        </p:nvSpPr>
        <p:spPr>
          <a:xfrm rot="0" flipH="false" flipV="false">
            <a:off x="1016000" y="4191000"/>
            <a:ext cx="4699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项目开发成本可控，商业转化路径清晰，财务评估显示其能有效降低长期运营支出，具有极高的投入产出比与投资回报潜力。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762000" y="5080000"/>
            <a:ext cx="52070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762000" y="5080000"/>
            <a:ext cx="76200" cy="13335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016000" y="5232400"/>
            <a:ext cx="355600" cy="355600"/>
          </a:xfrm>
          <a:prstGeom prst="rect">
            <a:avLst/>
          </a:prstGeom>
        </p:spPr>
      </p:pic>
      <p:sp>
        <p:nvSpPr>
          <p:cNvPr name="AutoShape 19" id="19"/>
          <p:cNvSpPr/>
          <p:nvPr/>
        </p:nvSpPr>
        <p:spPr>
          <a:xfrm rot="0" flipH="false" flipV="false">
            <a:off x="1524000" y="5181600"/>
            <a:ext cx="4191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显著提升行业社会效益</a:t>
            </a:r>
            <a:endParaRPr lang="en-US" sz="1100"/>
          </a:p>
        </p:txBody>
      </p:sp>
      <p:cxnSp>
        <p:nvCxnSpPr>
          <p:cNvPr name="Connector 20" id="20"/>
          <p:cNvCxnSpPr/>
          <p:nvPr/>
        </p:nvCxnSpPr>
        <p:spPr>
          <a:xfrm rot="-9291" flipH="false" flipV="false">
            <a:off x="1016009" y="5708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374151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1" id="21"/>
          <p:cNvSpPr/>
          <p:nvPr/>
        </p:nvSpPr>
        <p:spPr>
          <a:xfrm rot="0" flipH="false" flipV="false">
            <a:off x="1016000" y="5842000"/>
            <a:ext cx="4699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有效提升建筑维护作业的整体效率，大幅减少人工巡检的安全风险与人力成本，为行业标准化、智能化发展提供了有力支撑。</a:t>
            </a:r>
            <a:endParaRPr lang="en-US" sz="1100"/>
          </a:p>
        </p:txBody>
      </p:sp>
      <p:cxnSp>
        <p:nvCxnSpPr>
          <p:cNvPr name="Connector 22" id="22"/>
          <p:cNvCxnSpPr/>
          <p:nvPr/>
        </p:nvCxnSpPr>
        <p:spPr>
          <a:xfrm rot="5390581" flipH="false" flipV="false">
            <a:off x="3905250" y="4089409"/>
            <a:ext cx="463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374151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23" id="23"/>
          <p:cNvSpPr/>
          <p:nvPr/>
        </p:nvSpPr>
        <p:spPr>
          <a:xfrm rot="0" flipH="false" flipV="false">
            <a:off x="6350000" y="1778000"/>
            <a:ext cx="5207000" cy="2222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4" id="24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6540500" y="1968500"/>
            <a:ext cx="304800" cy="304800"/>
          </a:xfrm>
          <a:prstGeom prst="rect">
            <a:avLst/>
          </a:prstGeom>
        </p:spPr>
      </p:pic>
      <p:sp>
        <p:nvSpPr>
          <p:cNvPr name="AutoShape 25" id="25"/>
          <p:cNvSpPr/>
          <p:nvPr/>
        </p:nvSpPr>
        <p:spPr>
          <a:xfrm rot="0" flipH="false" flipV="false">
            <a:off x="6985000" y="1930400"/>
            <a:ext cx="4381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实践亮点 · 值得持续推广</a:t>
            </a:r>
            <a:endParaRPr lang="en-US" sz="1100"/>
          </a:p>
        </p:txBody>
      </p:sp>
      <p:cxnSp>
        <p:nvCxnSpPr>
          <p:cNvPr name="Connector 26" id="26"/>
          <p:cNvCxnSpPr/>
          <p:nvPr/>
        </p:nvCxnSpPr>
        <p:spPr>
          <a:xfrm rot="-9046" flipH="false" flipV="false">
            <a:off x="6540508" y="25336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10B981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7" id="27"/>
          <p:cNvSpPr/>
          <p:nvPr/>
        </p:nvSpPr>
        <p:spPr>
          <a:xfrm rot="0" flipH="false" flipV="false">
            <a:off x="6540500" y="2730500"/>
            <a:ext cx="4826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坚持“双方法交叉验证”保障结果可靠；采用“API优先开发”策略，提升系统集成效率；全面实施“Docker容器化”部署，确保了环境一致性与交付速度。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6350000" y="4254500"/>
            <a:ext cx="5207000" cy="2222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9" id="29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 flipH="false" flipV="false">
            <a:off x="6540500" y="4445000"/>
            <a:ext cx="304800" cy="304800"/>
          </a:xfrm>
          <a:prstGeom prst="rect">
            <a:avLst/>
          </a:prstGeom>
        </p:spPr>
      </p:pic>
      <p:sp>
        <p:nvSpPr>
          <p:cNvPr name="AutoShape 30" id="30"/>
          <p:cNvSpPr/>
          <p:nvPr/>
        </p:nvSpPr>
        <p:spPr>
          <a:xfrm rot="0" flipH="false" flipV="false">
            <a:off x="6985000" y="4406900"/>
            <a:ext cx="4381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反思复盘 · 待优化改进点</a:t>
            </a:r>
            <a:endParaRPr lang="en-US" sz="1100"/>
          </a:p>
        </p:txBody>
      </p:sp>
      <p:cxnSp>
        <p:nvCxnSpPr>
          <p:cNvPr name="Connector 31" id="31"/>
          <p:cNvCxnSpPr/>
          <p:nvPr/>
        </p:nvCxnSpPr>
        <p:spPr>
          <a:xfrm rot="-9046" flipH="false" flipV="false">
            <a:off x="6540508" y="50101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97316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32" id="32"/>
          <p:cNvSpPr/>
          <p:nvPr/>
        </p:nvSpPr>
        <p:spPr>
          <a:xfrm rot="0" flipH="false" flipV="false">
            <a:off x="6540500" y="5207000"/>
            <a:ext cx="4826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前期需求量化指标论证需更充分，避免后期反复；应全面推进“测试左移”，在开发早期介入质量管控；同时需提前完善数据集规划，为算法迭代夯实基础。</a:t>
            </a:r>
            <a:endParaRPr lang="en-US" sz="1100"/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未来展望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778000"/>
            <a:ext cx="609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01 商业化路径规划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7161" flipH="false" flipV="false">
            <a:off x="762007" y="2279650"/>
            <a:ext cx="609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10B981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6" id="6"/>
          <p:cNvSpPr/>
          <p:nvPr/>
        </p:nvSpPr>
        <p:spPr>
          <a:xfrm rot="0" flipH="false" flipV="false">
            <a:off x="762000" y="2540000"/>
            <a:ext cx="1968500" cy="1524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10B981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889000" y="2667000"/>
            <a:ext cx="17145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短期 (0-6个月)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以MVP形式通过SaaS模式获取早期用户，快速验证市场需求，实现项目的自我造血能力。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2857500" y="2540000"/>
            <a:ext cx="1968500" cy="1524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10B981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2984500" y="2667000"/>
            <a:ext cx="17145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中期 (6-18个月)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积极申报大学生创新创业基金，参与高水平创业大赛，争取获得天使轮投资以扩大规模。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4889500" y="2540000"/>
            <a:ext cx="1968500" cy="1524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10B981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5016500" y="2667000"/>
            <a:ext cx="17145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长期发展规划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申报国家高新技术企业，拓展多元化收入渠道，构建完整的智慧建筑AI视觉生态体系。</a:t>
            </a:r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762000" y="4445000"/>
            <a:ext cx="609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02 技术迭代核心方向</a:t>
            </a:r>
            <a:endParaRPr lang="en-US" sz="1100"/>
          </a:p>
        </p:txBody>
      </p:sp>
      <p:cxnSp>
        <p:nvCxnSpPr>
          <p:cNvPr name="Connector 13" id="13"/>
          <p:cNvCxnSpPr/>
          <p:nvPr/>
        </p:nvCxnSpPr>
        <p:spPr>
          <a:xfrm rot="-7161" flipH="false" flipV="false">
            <a:off x="762007" y="4883150"/>
            <a:ext cx="609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10B981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14" id="14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762000" y="5143500"/>
            <a:ext cx="304800" cy="3048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1143000" y="5105400"/>
            <a:ext cx="18415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模型深度优化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持续迭代YOLO模型架构，针对复杂建筑场景优化算法，提升边缘检测与识别的精度。</a:t>
            </a:r>
          </a:p>
        </p:txBody>
      </p:sp>
      <p:cxnSp>
        <p:nvCxnSpPr>
          <p:cNvPr name="Connector 16" id="16"/>
          <p:cNvCxnSpPr/>
          <p:nvPr/>
        </p:nvCxnSpPr>
        <p:spPr>
          <a:xfrm rot="5350892" flipH="false" flipV="false">
            <a:off x="2667000" y="5645195"/>
            <a:ext cx="88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9CA3AF">
                <a:alpha val="4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name="Picture 17" id="17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3238500" y="5143500"/>
            <a:ext cx="304800" cy="304800"/>
          </a:xfrm>
          <a:prstGeom prst="rect">
            <a:avLst/>
          </a:prstGeom>
        </p:spPr>
      </p:pic>
      <p:sp>
        <p:nvSpPr>
          <p:cNvPr name="AutoShape 18" id="18"/>
          <p:cNvSpPr/>
          <p:nvPr/>
        </p:nvSpPr>
        <p:spPr>
          <a:xfrm rot="0" flipH="false" flipV="false">
            <a:off x="3619500" y="5105400"/>
            <a:ext cx="18415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功能场景扩展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开发定时自动巡检、故障自动定级及维保工单生成功能，覆盖全生命周期管理需求。</a:t>
            </a:r>
          </a:p>
        </p:txBody>
      </p:sp>
      <p:cxnSp>
        <p:nvCxnSpPr>
          <p:cNvPr name="Connector 19" id="19"/>
          <p:cNvCxnSpPr/>
          <p:nvPr/>
        </p:nvCxnSpPr>
        <p:spPr>
          <a:xfrm rot="5350892" flipH="false" flipV="false">
            <a:off x="4826000" y="5645195"/>
            <a:ext cx="88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9CA3AF">
                <a:alpha val="4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name="Picture 20" id="20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5397500" y="5143500"/>
            <a:ext cx="304800" cy="304800"/>
          </a:xfrm>
          <a:prstGeom prst="rect">
            <a:avLst/>
          </a:prstGeom>
        </p:spPr>
      </p:pic>
      <p:sp>
        <p:nvSpPr>
          <p:cNvPr name="AutoShape 21" id="21"/>
          <p:cNvSpPr/>
          <p:nvPr/>
        </p:nvSpPr>
        <p:spPr>
          <a:xfrm rot="0" flipH="false" flipV="false">
            <a:off x="5778500" y="5105400"/>
            <a:ext cx="18415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平台化生态构建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打造通用型AI视觉检测平台，开放API接口，赋能智慧建筑上下游合作伙伴共建生态。</a:t>
            </a:r>
          </a:p>
        </p:txBody>
      </p:sp>
      <p:cxnSp>
        <p:nvCxnSpPr>
          <p:cNvPr name="Connector 22" id="22"/>
          <p:cNvCxnSpPr/>
          <p:nvPr/>
        </p:nvCxnSpPr>
        <p:spPr>
          <a:xfrm rot="5390177" flipH="false" flipV="false">
            <a:off x="5270500" y="4121159"/>
            <a:ext cx="444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9CA3AF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name="Picture 23" id="23"/>
          <p:cNvPicPr>
            <a:picLocks noChangeAspect="true"/>
          </p:cNvPicPr>
          <p:nvPr/>
        </p:nvPicPr>
        <p:blipFill>
          <a:blip r:embed="rId9"/>
          <a:srcRect l="0" r="0" t="2014" b="2014"/>
          <a:stretch>
            <a:fillRect/>
          </a:stretch>
        </p:blipFill>
        <p:spPr>
          <a:xfrm rot="0" flipH="false" flipV="false">
            <a:off x="8001000" y="2032000"/>
            <a:ext cx="3175000" cy="2032000"/>
          </a:xfrm>
          <a:prstGeom prst="rect">
            <a:avLst/>
          </a:prstGeom>
          <a:noFill/>
          <a:ln w="25400" cmpd="sng" cap="flat">
            <a:solidFill>
              <a:srgbClr val="FFFFFF">
                <a:alpha val="80000"/>
              </a:srgbClr>
            </a:solidFill>
            <a:prstDash val="solid"/>
            <a:round/>
          </a:ln>
        </p:spPr>
      </p:pic>
      <p:sp>
        <p:nvSpPr>
          <p:cNvPr name="AutoShape 24" id="24"/>
          <p:cNvSpPr/>
          <p:nvPr/>
        </p:nvSpPr>
        <p:spPr>
          <a:xfrm rot="0" flipH="false" flipV="false">
            <a:off x="8001000" y="4191000"/>
            <a:ext cx="3175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亮相“岳麓山杯”大学生创新创业大赛，展示核心技术成果与商业潜力。</a:t>
            </a:r>
            <a:endParaRPr lang="en-US" sz="1100"/>
          </a:p>
        </p:txBody>
      </p:sp>
      <p:pic>
        <p:nvPicPr>
          <p:cNvPr name="Picture 25" id="25"/>
          <p:cNvPicPr>
            <a:picLocks noChangeAspect="true"/>
          </p:cNvPicPr>
          <p:nvPr/>
        </p:nvPicPr>
        <p:blipFill>
          <a:blip r:embed="rId10"/>
          <a:srcRect l="1515" r="1515" t="0" b="0"/>
          <a:stretch>
            <a:fillRect/>
          </a:stretch>
        </p:blipFill>
        <p:spPr>
          <a:xfrm rot="0" flipH="false" flipV="false">
            <a:off x="8001000" y="5080000"/>
            <a:ext cx="2032000" cy="1397000"/>
          </a:xfrm>
          <a:prstGeom prst="rect">
            <a:avLst/>
          </a:prstGeom>
          <a:noFill/>
          <a:ln w="25400" cmpd="sng" cap="flat">
            <a:solidFill>
              <a:srgbClr val="FFFFFF">
                <a:alpha val="80000"/>
              </a:srgbClr>
            </a:solidFill>
            <a:prstDash val="solid"/>
            <a:round/>
          </a:ln>
        </p:spPr>
      </p:pic>
      <p:sp>
        <p:nvSpPr>
          <p:cNvPr name="AutoShape 26" id="26"/>
          <p:cNvSpPr/>
          <p:nvPr/>
        </p:nvSpPr>
        <p:spPr>
          <a:xfrm rot="0" flipH="false" flipV="false">
            <a:off x="10160000" y="5080000"/>
            <a:ext cx="1651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6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专业孵化支持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入驻科技孵化器，依托联合办公空间与产业资源网络，加速项目从研发到落地的转化。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4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0" y="2667000"/>
            <a:ext cx="12192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4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感谢聆听！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5461000" y="4191000"/>
            <a:ext cx="12700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0" y="4699000"/>
            <a:ext cx="1219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32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Q &amp; A</a:t>
            </a:r>
            <a:r>
              <a:rPr lang="en-US" b="false" i="false" strike="noStrike" u="none" sz="18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欢迎各位提问与交流</a:t>
            </a:r>
            <a:endParaRPr lang="en-US" sz="1100"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{"Label":"1","ContentProducer":"001191110102MACQD9K64010000","ProduceID":"7648248641195838661","ReservedCode1":"","ContentPropagator":"","PropagateID":"","ReservedCode2":""}</vt:lpwstr>
  </property>
</Properties>
</file>